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Emissync, a real-time browser-level carbon monitoring system. Our goal is to make the environmental footprint of web browsing visible to users. Likely question: What makes this different from existing tools? Answer: Real-time session monitoring with multi-source attribution, not just a per-URL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page we load travels through cables, data centres, and our device—each stage uses electricity. ICT emissions are substantial and growing with Internet traffic. SWDM v4 is the Sustainable Web Design Model version 4, a bottom-up model we use as our baseline. Likely question: How much of browsing emissions are embodied vs operational? Answer: SWDM allocates roughly 19% to embodied hardware, 81% to operational electricity across device/network/DC.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 is visibility. Users do not see the footprint of their own browsing activity in real time. Our research question is about combining measurement with modeling for granularity. Likely question: Why cannot you measure emissions directly? Answer: A browser has no access to server-side electricity meters or network infrastructure power usage—data transfer is the observable proxy.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main objectives. Objective 1-2 are implemented in Phase 1. Objectives 3-4 are in progress. Likely question: Why MV3? Answer: Manifest V3 is the current Chrome extension standard; MV2 is being deprecated. Likely question: Why local storage only? Answer: Privacy—no user data leaves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shows how browsing activity becomes a carbon estimate. webRequest captures cross-origin resources that the Performance API would report as zero bytes. Classification ensures we only count actual network transfers. Likely question: Why not use the Performance Timing API? Answer: It reports 0 bytes for cross-origin resources without Timing-Allow-Origin headers, which most third-party resources lack.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studied 5 estimation models. SWDM v4 is our baseline because it is bottom-up, segmented, and reproducible via CO2.js. The others inform our enhanced model layer. Likely question: Why not use OneByte or EcoIndex as the baseline? Answer: OneByte ignores device energy; EcoIndex focuses on DOM/requests but lacks a transparent data-to-energy formula. SWDM is the most complete and maintained open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 stack is standard web extension technologies. CO2.js provides the SWDM implementation. Likely question: Why no machine learning? Answer: The problem is measurement + applying an established model—ML is not needed for that. If we were predicting user behavior or optimizing recommendations, ML might help, but the core task is transparent calculation.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prototype is functional. The measurement layer works. The carbon conversion (CO2.js integration) is in progress. Likely question: What is the serialized storage queue? Answer: Multiple webRequest events fire concurrently; a promise queue ensures read-modify-write operations on storage don't race and overwrite each other's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measurement is done. CO2 estimate integration is the next immediate step. Be direct: "The measurement layer works; the carbon conversion is what we are completing now." Likely question: What is the timeline for Phase 5? Answer: Experiments and paper are planned for late November through December and into semester 8, subject to supervisor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preliminary measurements. The extension systematically reports fewer bytes than DevTools. Likely causes: (1) unknown-size responses are not counted, (2) Content-Length is compressed body only, (3) request scope differences (e.g., service workers, cached subresources). This is NOT validated yet—we need to investigate the scope and methodology differences. Likely question: Why the big difference for Indian Express? Answer: 31 unknown-size requests, likely media or chunked-transfer responses, plus possible third-party resources the extension sees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limitations before the panel raises them. The biggest technical limitation right now is unknown-size responses and the unvalidated DevTools discrepancy. Likely question: How much of the discrepancy is due to unknown-size responses? Answer: That is part of what we need to validate—unknown size is one contributor, but request-count differences suggest scope/methodology differences too. We need to align what each tool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Timeline is ambitious but structured by supervisor guidance. Validation and unknown-size handling are top priorities. Likely question: Is the timeline realistic? Answer: Phase 1 is nearly complete; phases 2-3 are UI and calculation extensions of existing code. Phase 4-5 depend on the enhanced model design and experiment execution—supervisor has approved the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slide. SWDM/CO2.js is the primary source for the baseline model. RFCs and ISO standard inform the system-level framing.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Q&amp;A slide. Practice these answers. Be ready to acknowledge what you do not yet know (e.g., DevTools discrepancy root cause) rather than speculating.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explaining the proxy logic. Bytes are observable; electricity/emissions are not. The model assumptions are documented and reproducible. Unknown-size responses are a known gap. Likely question: What about green energy? Answer: SWDM uses grid-average intensity; a future enhancement could use marginal or time-of-use carbon intensity, but that requires location and timestamp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097280"/>
            <a:ext cx="8229600" cy="731520"/>
          </a:xfrm>
          <a:prstGeom prst="rect">
            <a:avLst/>
          </a:prstGeom>
          <a:noFill/>
          <a:ln/>
        </p:spPr>
        <p:txBody>
          <a:bodyPr wrap="square" rtlCol="0" anchor="ctr"/>
          <a:lstStyle/>
          <a:p>
            <a:pPr indent="0" marL="0">
              <a:buNone/>
            </a:pPr>
            <a:r>
              <a:rPr lang="en-US" sz="4800" b="1" dirty="0">
                <a:solidFill>
                  <a:srgbClr val="222831"/>
                </a:solidFill>
                <a:latin typeface="Fira Sans, Arial" pitchFamily="34" charset="0"/>
                <a:ea typeface="Fira Sans, Arial" pitchFamily="34" charset="-122"/>
                <a:cs typeface="Fira Sans, Arial" pitchFamily="34" charset="-120"/>
              </a:rPr>
              <a:t>Emissync</a:t>
            </a:r>
            <a:endParaRPr lang="en-US" sz="4800" dirty="0"/>
          </a:p>
        </p:txBody>
      </p:sp>
      <p:sp>
        <p:nvSpPr>
          <p:cNvPr id="3" name="Text 1"/>
          <p:cNvSpPr/>
          <p:nvPr/>
        </p:nvSpPr>
        <p:spPr>
          <a:xfrm>
            <a:off x="457200" y="1920240"/>
            <a:ext cx="8229600" cy="548640"/>
          </a:xfrm>
          <a:prstGeom prst="rect">
            <a:avLst/>
          </a:prstGeom>
          <a:noFill/>
          <a:ln/>
        </p:spPr>
        <p:txBody>
          <a:bodyPr wrap="square" rtlCol="0" anchor="ctr"/>
          <a:lstStyle/>
          <a:p>
            <a:pPr indent="0" marL="0">
              <a:buNone/>
            </a:pPr>
            <a:r>
              <a:rPr lang="en-US" sz="1800" dirty="0">
                <a:solidFill>
                  <a:srgbClr val="30475E"/>
                </a:solidFill>
                <a:latin typeface="Fira Sans, Arial" pitchFamily="34" charset="0"/>
                <a:ea typeface="Fira Sans, Arial" pitchFamily="34" charset="-122"/>
                <a:cs typeface="Fira Sans, Arial" pitchFamily="34" charset="-120"/>
              </a:rPr>
              <a:t>Real-Time Estimation and Attribution of Carbon Emissions
</a:t>
            </a:r>
            <a:pPr indent="0" marL="0">
              <a:buNone/>
            </a:pPr>
            <a:r>
              <a:rPr lang="en-US" sz="1800" dirty="0">
                <a:solidFill>
                  <a:srgbClr val="30475E"/>
                </a:solidFill>
                <a:latin typeface="Fira Sans, Arial" pitchFamily="34" charset="0"/>
                <a:ea typeface="Fira Sans, Arial" pitchFamily="34" charset="-122"/>
                <a:cs typeface="Fira Sans, Arial" pitchFamily="34" charset="-120"/>
              </a:rPr>
              <a:t>from Web Browsing Sessions</a:t>
            </a:r>
            <a:endParaRPr lang="en-US" sz="1800" dirty="0"/>
          </a:p>
        </p:txBody>
      </p:sp>
      <p:sp>
        <p:nvSpPr>
          <p:cNvPr id="4" name="Text 2"/>
          <p:cNvSpPr/>
          <p:nvPr/>
        </p:nvSpPr>
        <p:spPr>
          <a:xfrm>
            <a:off x="457200" y="2651760"/>
            <a:ext cx="8229600" cy="365760"/>
          </a:xfrm>
          <a:prstGeom prst="rect">
            <a:avLst/>
          </a:prstGeom>
          <a:noFill/>
          <a:ln/>
        </p:spPr>
        <p:txBody>
          <a:bodyPr wrap="square" rtlCol="0" anchor="ctr"/>
          <a:lstStyle/>
          <a:p>
            <a:pPr indent="0" marL="0">
              <a:buNone/>
            </a:pPr>
            <a:r>
              <a:rPr lang="en-US" sz="1400" i="1" dirty="0">
                <a:solidFill>
                  <a:srgbClr val="F2A365"/>
                </a:solidFill>
                <a:latin typeface="Fira Sans, Arial" pitchFamily="34" charset="0"/>
                <a:ea typeface="Fira Sans, Arial" pitchFamily="34" charset="-122"/>
                <a:cs typeface="Fira Sans, Arial" pitchFamily="34" charset="-120"/>
              </a:rPr>
              <a:t>Every Click. Every Byte. One Carbon Impact.</a:t>
            </a:r>
            <a:endParaRPr lang="en-US" sz="1400" dirty="0"/>
          </a:p>
        </p:txBody>
      </p:sp>
      <p:sp>
        <p:nvSpPr>
          <p:cNvPr id="5" name="Text 3"/>
          <p:cNvSpPr/>
          <p:nvPr/>
        </p:nvSpPr>
        <p:spPr>
          <a:xfrm>
            <a:off x="457200" y="3474720"/>
            <a:ext cx="8229600" cy="1188720"/>
          </a:xfrm>
          <a:prstGeom prst="rect">
            <a:avLst/>
          </a:prstGeom>
          <a:noFill/>
          <a:ln/>
        </p:spPr>
        <p:txBody>
          <a:bodyPr wrap="square" rtlCol="0" anchor="t"/>
          <a:lstStyle/>
          <a:p>
            <a:pPr indent="0" marL="0">
              <a:buNone/>
            </a:pPr>
            <a:r>
              <a:rPr lang="en-US" sz="1400" b="1" dirty="0">
                <a:solidFill>
                  <a:srgbClr val="222831"/>
                </a:solidFill>
                <a:latin typeface="Fira Sans, Arial" pitchFamily="34" charset="0"/>
                <a:ea typeface="Fira Sans, Arial" pitchFamily="34" charset="-122"/>
                <a:cs typeface="Fira Sans, Arial" pitchFamily="34" charset="-120"/>
              </a:rPr>
              <a:t>Group Members
</a:t>
            </a:r>
            <a:endParaRPr lang="en-US" sz="1400" dirty="0"/>
          </a:p>
          <a:p>
            <a:pPr indent="0" marL="0">
              <a:buNone/>
            </a:pPr>
            <a:r>
              <a:rPr lang="en-US" sz="1400" dirty="0">
                <a:solidFill>
                  <a:srgbClr val="30475E"/>
                </a:solidFill>
                <a:latin typeface="Fira Sans, Arial" pitchFamily="34" charset="0"/>
                <a:ea typeface="Fira Sans, Arial" pitchFamily="34" charset="-122"/>
                <a:cs typeface="Fira Sans, Arial" pitchFamily="34" charset="-120"/>
              </a:rPr>
              <a:t>Abhishek Maurya  •  Divyanshi Gautam  •  Shruti Bhatt  •  Jaiswar Sushilkumar Sunil
</a:t>
            </a:r>
            <a:endParaRPr lang="en-US" sz="1400" dirty="0"/>
          </a:p>
          <a:p>
            <a:pPr indent="0" marL="0">
              <a:buNone/>
            </a:pPr>
            <a:r>
              <a:rPr lang="en-US" sz="1200" dirty="0">
                <a:solidFill>
                  <a:srgbClr val="C4C4C4"/>
                </a:solidFill>
                <a:latin typeface="Fira Sans, Arial" pitchFamily="34" charset="0"/>
                <a:ea typeface="Fira Sans, Arial" pitchFamily="34" charset="-122"/>
                <a:cs typeface="Fira Sans, Arial" pitchFamily="34" charset="-120"/>
              </a:rPr>
              <a:t>Roll Numbers: [TO BE FILLED]
</a:t>
            </a:r>
            <a:endParaRPr lang="en-US" sz="1400" dirty="0"/>
          </a:p>
          <a:p>
            <a:pPr indent="0" marL="0">
              <a:buNone/>
            </a:pPr>
            <a:r>
              <a:rPr lang="en-US" sz="1200" dirty="0">
                <a:solidFill>
                  <a:srgbClr val="30475E"/>
                </a:solidFill>
                <a:latin typeface="Fira Sans, Arial" pitchFamily="34" charset="0"/>
                <a:ea typeface="Fira Sans, Arial" pitchFamily="34" charset="-122"/>
                <a:cs typeface="Fira Sans, Arial" pitchFamily="34" charset="-120"/>
              </a:rPr>
              <a:t>Supervisor: [NAME]  |  B.Tech CSE, 7th Semester  |  22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731520"/>
          </a:xfrm>
          <a:prstGeom prst="rect">
            <a:avLst/>
          </a:prstGeom>
          <a:noFill/>
          <a:ln/>
        </p:spPr>
        <p:txBody>
          <a:bodyPr wrap="square" rtlCol="0" anchor="ctr"/>
          <a:lstStyle/>
          <a:p>
            <a:pPr algn="l" indent="0" marL="0">
              <a:buNone/>
            </a:pPr>
            <a:r>
              <a:rPr lang="en-US" sz="2800" b="1" dirty="0">
                <a:solidFill>
                  <a:srgbClr val="222831"/>
                </a:solidFill>
                <a:latin typeface="Fira Sans, Arial" pitchFamily="34" charset="0"/>
                <a:ea typeface="Fira Sans, Arial" pitchFamily="34" charset="-122"/>
                <a:cs typeface="Fira Sans, Arial" pitchFamily="34" charset="-120"/>
              </a:rPr>
              <a:t>Introduction &amp; Background</a:t>
            </a:r>
            <a:endParaRPr lang="en-US" sz="2800" dirty="0"/>
          </a:p>
        </p:txBody>
      </p:sp>
      <p:sp>
        <p:nvSpPr>
          <p:cNvPr id="3" name="Text 1"/>
          <p:cNvSpPr/>
          <p:nvPr/>
        </p:nvSpPr>
        <p:spPr>
          <a:xfrm>
            <a:off x="457200" y="1371600"/>
            <a:ext cx="8229600" cy="3200400"/>
          </a:xfrm>
          <a:prstGeom prst="rect">
            <a:avLst/>
          </a:prstGeom>
          <a:noFill/>
          <a:ln/>
        </p:spPr>
        <p:txBody>
          <a:bodyPr wrap="square" rtlCol="0" anchor="t"/>
          <a:lstStyle/>
          <a:p>
            <a:r>
              <a:rPr lang="en-US" sz="1800" dirty="0">
                <a:solidFill>
                  <a:srgbClr val="222831"/>
                </a:solidFill>
                <a:latin typeface="Fira Sans, Arial" pitchFamily="34" charset="0"/>
                <a:ea typeface="Fira Sans, Arial" pitchFamily="34" charset="-122"/>
                <a:cs typeface="Fira Sans, Arial" pitchFamily="34" charset="-120"/>
              </a:rPr>
              <a:t>The Internet runs on physical infrastructure: data centres, undersea cables, and user devices</a:t>
            </a:r>
            <a:endParaRPr lang="en-US" sz="1800" dirty="0"/>
          </a:p>
          <a:p>
            <a:r>
              <a:rPr lang="en-US" sz="1800" dirty="0">
                <a:solidFill>
                  <a:srgbClr val="222831"/>
                </a:solidFill>
                <a:latin typeface="Fira Sans, Arial" pitchFamily="34" charset="0"/>
                <a:ea typeface="Fira Sans, Arial" pitchFamily="34" charset="-122"/>
                <a:cs typeface="Fira Sans, Arial" pitchFamily="34" charset="-120"/>
              </a:rPr>
              <a:t>ICT accounts for an estimated 3.5–3.7% of global GHG emissions (comparable to aviation)</a:t>
            </a:r>
            <a:endParaRPr lang="en-US" sz="1800" dirty="0"/>
          </a:p>
          <a:p>
            <a:r>
              <a:rPr lang="en-US" sz="1800" dirty="0">
                <a:solidFill>
                  <a:srgbClr val="222831"/>
                </a:solidFill>
                <a:latin typeface="Fira Sans, Arial" pitchFamily="34" charset="0"/>
                <a:ea typeface="Fira Sans, Arial" pitchFamily="34" charset="-122"/>
                <a:cs typeface="Fira Sans, Arial" pitchFamily="34" charset="-120"/>
              </a:rPr>
              <a:t>Carbon footprint = total CO₂e across a lifecycle (operational + embodied emissions)</a:t>
            </a:r>
            <a:endParaRPr lang="en-US" sz="1800" dirty="0"/>
          </a:p>
          <a:p>
            <a:r>
              <a:rPr lang="en-US" sz="1800" dirty="0">
                <a:solidFill>
                  <a:srgbClr val="222831"/>
                </a:solidFill>
                <a:latin typeface="Fira Sans, Arial" pitchFamily="34" charset="0"/>
                <a:ea typeface="Fira Sans, Arial" pitchFamily="34" charset="-122"/>
                <a:cs typeface="Fira Sans, Arial" pitchFamily="34" charset="-120"/>
              </a:rPr>
              <a:t>Operational: electricity during use  •  Embodied: manufacturing &amp; disposal</a:t>
            </a:r>
            <a:endParaRPr lang="en-US" sz="1800" dirty="0"/>
          </a:p>
          <a:p>
            <a:r>
              <a:rPr lang="en-US" sz="1800" dirty="0">
                <a:solidFill>
                  <a:srgbClr val="222831"/>
                </a:solidFill>
                <a:latin typeface="Fira Sans, Arial" pitchFamily="34" charset="0"/>
                <a:ea typeface="Fira Sans, Arial" pitchFamily="34" charset="-122"/>
                <a:cs typeface="Fira Sans, Arial" pitchFamily="34" charset="-120"/>
              </a:rPr>
              <a:t>SWDM v4 model allocates operational/embodied across device, network, and data centre</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731520"/>
          </a:xfrm>
          <a:prstGeom prst="rect">
            <a:avLst/>
          </a:prstGeom>
          <a:noFill/>
          <a:ln/>
        </p:spPr>
        <p:txBody>
          <a:bodyPr wrap="square" rtlCol="0" anchor="ctr"/>
          <a:lstStyle/>
          <a:p>
            <a:pPr algn="l" indent="0" marL="0">
              <a:buNone/>
            </a:pPr>
            <a:r>
              <a:rPr lang="en-US" sz="2800" b="1" dirty="0">
                <a:solidFill>
                  <a:srgbClr val="222831"/>
                </a:solidFill>
                <a:latin typeface="Fira Sans, Arial" pitchFamily="34" charset="0"/>
                <a:ea typeface="Fira Sans, Arial" pitchFamily="34" charset="-122"/>
                <a:cs typeface="Fira Sans, Arial" pitchFamily="34" charset="-120"/>
              </a:rPr>
              <a:t>Problem Statement</a:t>
            </a:r>
            <a:endParaRPr lang="en-US" sz="2800" dirty="0"/>
          </a:p>
        </p:txBody>
      </p:sp>
      <p:sp>
        <p:nvSpPr>
          <p:cNvPr id="3" name="Text 1"/>
          <p:cNvSpPr/>
          <p:nvPr/>
        </p:nvSpPr>
        <p:spPr>
          <a:xfrm>
            <a:off x="457200" y="1371600"/>
            <a:ext cx="8229600" cy="3200400"/>
          </a:xfrm>
          <a:prstGeom prst="rect">
            <a:avLst/>
          </a:prstGeom>
          <a:noFill/>
          <a:ln/>
        </p:spPr>
        <p:txBody>
          <a:bodyPr wrap="square" rtlCol="0" anchor="t"/>
          <a:lstStyle/>
          <a:p>
            <a:r>
              <a:rPr lang="en-US" sz="1800" dirty="0">
                <a:solidFill>
                  <a:srgbClr val="222831"/>
                </a:solidFill>
                <a:latin typeface="Fira Sans, Arial" pitchFamily="34" charset="0"/>
                <a:ea typeface="Fira Sans, Arial" pitchFamily="34" charset="-122"/>
                <a:cs typeface="Fira Sans, Arial" pitchFamily="34" charset="-120"/>
              </a:rPr>
              <a:t>Browsing consumes resources across data centres, networks, and devices—but users have no visibility into their session footprint</a:t>
            </a:r>
            <a:endParaRPr lang="en-US" sz="1800" dirty="0"/>
          </a:p>
          <a:p>
            <a:r>
              <a:rPr lang="en-US" sz="1800" dirty="0">
                <a:solidFill>
                  <a:srgbClr val="222831"/>
                </a:solidFill>
                <a:latin typeface="Fira Sans, Arial" pitchFamily="34" charset="0"/>
                <a:ea typeface="Fira Sans, Arial" pitchFamily="34" charset="-122"/>
                <a:cs typeface="Fira Sans, Arial" pitchFamily="34" charset="-120"/>
              </a:rPr>
              <a:t>Existing tools mostly estimate per URL from outside the browser, reporting one opaque number</a:t>
            </a:r>
            <a:endParaRPr lang="en-US" sz="1800" dirty="0"/>
          </a:p>
          <a:p>
            <a:r>
              <a:rPr lang="en-US" sz="1800" dirty="0">
                <a:solidFill>
                  <a:srgbClr val="222831"/>
                </a:solidFill>
                <a:latin typeface="Fira Sans, Arial" pitchFamily="34" charset="0"/>
                <a:ea typeface="Fira Sans, Arial" pitchFamily="34" charset="-122"/>
                <a:cs typeface="Fira Sans, Arial" pitchFamily="34" charset="-120"/>
              </a:rPr>
              <a:t>No continuously updated, session-level view with source-wise breakdown</a:t>
            </a:r>
            <a:endParaRPr lang="en-US" sz="1800" dirty="0"/>
          </a:p>
          <a:p>
            <a:r>
              <a:rPr lang="en-US" sz="1800" dirty="0">
                <a:solidFill>
                  <a:srgbClr val="222831"/>
                </a:solidFill>
                <a:latin typeface="Fira Sans, Arial" pitchFamily="34" charset="0"/>
                <a:ea typeface="Fira Sans, Arial" pitchFamily="34" charset="-122"/>
                <a:cs typeface="Fira Sans, Arial" pitchFamily="34" charset="-120"/>
              </a:rPr>
              <a:t>Research question: How can real-time browser measurements + established carbon models provide a granular, session-level estimated footprint?</a:t>
            </a:r>
            <a:endParaRPr lang="en-US" sz="1800" dirty="0"/>
          </a:p>
          <a:p>
            <a:r>
              <a:rPr lang="en-US" sz="1800" dirty="0">
                <a:solidFill>
                  <a:srgbClr val="222831"/>
                </a:solidFill>
                <a:latin typeface="Fira Sans, Arial" pitchFamily="34" charset="0"/>
                <a:ea typeface="Fira Sans, Arial" pitchFamily="34" charset="-122"/>
                <a:cs typeface="Fira Sans, Arial" pitchFamily="34" charset="-120"/>
              </a:rPr>
              <a:t>Key challenge: Exact emissions cannot be measured—only estimated from measurable inputs (bytes, requests, time)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731520"/>
          </a:xfrm>
          <a:prstGeom prst="rect">
            <a:avLst/>
          </a:prstGeom>
          <a:noFill/>
          <a:ln/>
        </p:spPr>
        <p:txBody>
          <a:bodyPr wrap="square" rtlCol="0" anchor="ctr"/>
          <a:lstStyle/>
          <a:p>
            <a:pPr algn="l" indent="0" marL="0">
              <a:buNone/>
            </a:pPr>
            <a:r>
              <a:rPr lang="en-US" sz="2800" b="1" dirty="0">
                <a:solidFill>
                  <a:srgbClr val="222831"/>
                </a:solidFill>
                <a:latin typeface="Fira Sans, Arial" pitchFamily="34" charset="0"/>
                <a:ea typeface="Fira Sans, Arial" pitchFamily="34" charset="-122"/>
                <a:cs typeface="Fira Sans, Arial" pitchFamily="34" charset="-120"/>
              </a:rPr>
              <a:t>Objectives</a:t>
            </a:r>
            <a:endParaRPr lang="en-US" sz="2800" dirty="0"/>
          </a:p>
        </p:txBody>
      </p:sp>
      <p:sp>
        <p:nvSpPr>
          <p:cNvPr id="3" name="Text 1"/>
          <p:cNvSpPr/>
          <p:nvPr/>
        </p:nvSpPr>
        <p:spPr>
          <a:xfrm>
            <a:off x="457200" y="1371600"/>
            <a:ext cx="8229600" cy="3200400"/>
          </a:xfrm>
          <a:prstGeom prst="rect">
            <a:avLst/>
          </a:prstGeom>
          <a:noFill/>
          <a:ln/>
        </p:spPr>
        <p:txBody>
          <a:bodyPr wrap="square" rtlCol="0" anchor="t"/>
          <a:lstStyle/>
          <a:p>
            <a:pPr marL="342900" indent="-342900">
              <a:buSzPct val="100000"/>
              <a:buFont typeface="+mj-lt"/>
              <a:buAutoNum type="arabicPeriod" startAt="1"/>
            </a:pPr>
            <a:r>
              <a:rPr lang="en-US" sz="1800" b="1" dirty="0">
                <a:solidFill>
                  <a:srgbClr val="F2A365"/>
                </a:solidFill>
                <a:latin typeface="Fira Sans, Arial" pitchFamily="34" charset="0"/>
                <a:ea typeface="Fira Sans, Arial" pitchFamily="34" charset="-122"/>
                <a:cs typeface="Fira Sans, Arial" pitchFamily="34" charset="-120"/>
              </a:rPr>
              <a:t>① Build a real-time Chrome (MV3) extension that monitors browsing sessions</a:t>
            </a:r>
            <a:pPr indent="0" marL="0">
              <a:buNone/>
            </a:pPr>
            <a:r>
              <a:rPr lang="en-US" sz="1800" b="1" dirty="0">
                <a:solidFill>
                  <a:srgbClr val="30475E"/>
                </a:solidFill>
                <a:latin typeface="Fira Sans, Arial" pitchFamily="34" charset="0"/>
                <a:ea typeface="Fira Sans, Arial" pitchFamily="34" charset="-122"/>
                <a:cs typeface="Fira Sans, Arial" pitchFamily="34" charset="-120"/>
              </a:rPr>
              <a:t>② Measure actual network transfer: requests, bytes, resource types, cache hits, 304 responses, failures</a:t>
            </a:r>
            <a:pPr indent="0" marL="0">
              <a:buNone/>
            </a:pPr>
            <a:r>
              <a:rPr lang="en-US" sz="1800" b="1" dirty="0">
                <a:solidFill>
                  <a:srgbClr val="F2A365"/>
                </a:solidFill>
                <a:latin typeface="Fira Sans, Arial" pitchFamily="34" charset="0"/>
                <a:ea typeface="Fira Sans, Arial" pitchFamily="34" charset="-122"/>
                <a:cs typeface="Fira Sans, Arial" pitchFamily="34" charset="-120"/>
              </a:rPr>
              <a:t>③ Estimate CO₂e using SWDM v4 / CO2.js with attribution to device, network, data centre, and embodied hardware</a:t>
            </a:r>
            <a:pPr indent="0" marL="0">
              <a:buNone/>
            </a:pPr>
            <a:r>
              <a:rPr lang="en-US" sz="1800" b="1" dirty="0">
                <a:solidFill>
                  <a:srgbClr val="30475E"/>
                </a:solidFill>
                <a:latin typeface="Fira Sans, Arial" pitchFamily="34" charset="0"/>
                <a:ea typeface="Fira Sans, Arial" pitchFamily="34" charset="-122"/>
                <a:cs typeface="Fira Sans, Arial" pitchFamily="34" charset="-120"/>
              </a:rPr>
              <a:t>④ Provide transparent, privacy-friendly results: local storage only, clearly labeled estimates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731520"/>
          </a:xfrm>
          <a:prstGeom prst="rect">
            <a:avLst/>
          </a:prstGeom>
          <a:noFill/>
          <a:ln/>
        </p:spPr>
        <p:txBody>
          <a:bodyPr wrap="square" rtlCol="0" anchor="ctr"/>
          <a:lstStyle/>
          <a:p>
            <a:pPr algn="l" indent="0" marL="0">
              <a:buNone/>
            </a:pPr>
            <a:r>
              <a:rPr lang="en-US" sz="2600" b="1" dirty="0">
                <a:solidFill>
                  <a:srgbClr val="222831"/>
                </a:solidFill>
                <a:latin typeface="Fira Sans, Arial" pitchFamily="34" charset="0"/>
                <a:ea typeface="Fira Sans, Arial" pitchFamily="34" charset="-122"/>
                <a:cs typeface="Fira Sans, Arial" pitchFamily="34" charset="-120"/>
              </a:rPr>
              <a:t>Methodology: System Workflow &amp; Measurement</a:t>
            </a:r>
            <a:endParaRPr lang="en-US" sz="2600" dirty="0"/>
          </a:p>
        </p:txBody>
      </p:sp>
      <p:sp>
        <p:nvSpPr>
          <p:cNvPr id="3" name="Shape 1"/>
          <p:cNvSpPr/>
          <p:nvPr/>
        </p:nvSpPr>
        <p:spPr>
          <a:xfrm>
            <a:off x="457200" y="1463040"/>
            <a:ext cx="1463040" cy="548640"/>
          </a:xfrm>
          <a:prstGeom prst="roundRect">
            <a:avLst/>
          </a:prstGeom>
          <a:solidFill>
            <a:srgbClr val="EBEBEB"/>
          </a:solidFill>
          <a:ln w="12700">
            <a:solidFill>
              <a:srgbClr val="FFFFFF"/>
            </a:solidFill>
            <a:prstDash val="solid"/>
          </a:ln>
        </p:spPr>
      </p:sp>
      <p:sp>
        <p:nvSpPr>
          <p:cNvPr id="4" name="Text 2"/>
          <p:cNvSpPr/>
          <p:nvPr/>
        </p:nvSpPr>
        <p:spPr>
          <a:xfrm>
            <a:off x="457200" y="1463040"/>
            <a:ext cx="1463040" cy="548640"/>
          </a:xfrm>
          <a:prstGeom prst="rect">
            <a:avLst/>
          </a:prstGeom>
          <a:noFill/>
          <a:ln/>
        </p:spPr>
        <p:txBody>
          <a:bodyPr wrap="square" rtlCol="0" anchor="ctr"/>
          <a:lstStyle/>
          <a:p>
            <a:pPr algn="ctr" indent="0" marL="0">
              <a:buNone/>
            </a:pPr>
            <a:r>
              <a:rPr lang="en-US" sz="1400" b="1" dirty="0">
                <a:solidFill>
                  <a:srgbClr val="FFFFFF"/>
                </a:solidFill>
                <a:latin typeface="Fira Sans, Arial" pitchFamily="34" charset="0"/>
                <a:ea typeface="Fira Sans, Arial" pitchFamily="34" charset="-122"/>
                <a:cs typeface="Fira Sans, Arial" pitchFamily="34" charset="-120"/>
              </a:rPr>
              <a:t>Browse</a:t>
            </a:r>
            <a:endParaRPr lang="en-US" sz="1400" dirty="0"/>
          </a:p>
        </p:txBody>
      </p:sp>
      <p:sp>
        <p:nvSpPr>
          <p:cNvPr id="5" name="Shape 3"/>
          <p:cNvSpPr/>
          <p:nvPr/>
        </p:nvSpPr>
        <p:spPr>
          <a:xfrm>
            <a:off x="1920240" y="1600200"/>
            <a:ext cx="137160" cy="274320"/>
          </a:xfrm>
          <a:prstGeom prst="rightArrow">
            <a:avLst/>
          </a:prstGeom>
          <a:solidFill>
            <a:srgbClr val="C4C4C4"/>
          </a:solidFill>
          <a:ln/>
        </p:spPr>
      </p:sp>
      <p:sp>
        <p:nvSpPr>
          <p:cNvPr id="6" name="Shape 4"/>
          <p:cNvSpPr/>
          <p:nvPr/>
        </p:nvSpPr>
        <p:spPr>
          <a:xfrm>
            <a:off x="2057400" y="1463040"/>
            <a:ext cx="1463040" cy="548640"/>
          </a:xfrm>
          <a:prstGeom prst="roundRect">
            <a:avLst/>
          </a:prstGeom>
          <a:solidFill>
            <a:srgbClr val="30475E"/>
          </a:solidFill>
          <a:ln w="12700">
            <a:solidFill>
              <a:srgbClr val="FFFFFF"/>
            </a:solidFill>
            <a:prstDash val="solid"/>
          </a:ln>
        </p:spPr>
      </p:sp>
      <p:sp>
        <p:nvSpPr>
          <p:cNvPr id="7" name="Text 5"/>
          <p:cNvSpPr/>
          <p:nvPr/>
        </p:nvSpPr>
        <p:spPr>
          <a:xfrm>
            <a:off x="2057400" y="1463040"/>
            <a:ext cx="1463040" cy="548640"/>
          </a:xfrm>
          <a:prstGeom prst="rect">
            <a:avLst/>
          </a:prstGeom>
          <a:noFill/>
          <a:ln/>
        </p:spPr>
        <p:txBody>
          <a:bodyPr wrap="square" rtlCol="0" anchor="ctr"/>
          <a:lstStyle/>
          <a:p>
            <a:pPr algn="ctr" indent="0" marL="0">
              <a:buNone/>
            </a:pPr>
            <a:r>
              <a:rPr lang="en-US" sz="1400" b="1" dirty="0">
                <a:solidFill>
                  <a:srgbClr val="FFFFFF"/>
                </a:solidFill>
                <a:latin typeface="Fira Sans, Arial" pitchFamily="34" charset="0"/>
                <a:ea typeface="Fira Sans, Arial" pitchFamily="34" charset="-122"/>
                <a:cs typeface="Fira Sans, Arial" pitchFamily="34" charset="-120"/>
              </a:rPr>
              <a:t>webRequest</a:t>
            </a:r>
            <a:endParaRPr lang="en-US" sz="1400" dirty="0"/>
          </a:p>
        </p:txBody>
      </p:sp>
      <p:sp>
        <p:nvSpPr>
          <p:cNvPr id="8" name="Shape 6"/>
          <p:cNvSpPr/>
          <p:nvPr/>
        </p:nvSpPr>
        <p:spPr>
          <a:xfrm>
            <a:off x="3520440" y="1600200"/>
            <a:ext cx="137160" cy="274320"/>
          </a:xfrm>
          <a:prstGeom prst="rightArrow">
            <a:avLst/>
          </a:prstGeom>
          <a:solidFill>
            <a:srgbClr val="C4C4C4"/>
          </a:solidFill>
          <a:ln/>
        </p:spPr>
      </p:sp>
      <p:sp>
        <p:nvSpPr>
          <p:cNvPr id="9" name="Shape 7"/>
          <p:cNvSpPr/>
          <p:nvPr/>
        </p:nvSpPr>
        <p:spPr>
          <a:xfrm>
            <a:off x="3657600" y="1463040"/>
            <a:ext cx="1463040" cy="548640"/>
          </a:xfrm>
          <a:prstGeom prst="roundRect">
            <a:avLst/>
          </a:prstGeom>
          <a:solidFill>
            <a:srgbClr val="F2A365"/>
          </a:solidFill>
          <a:ln w="12700">
            <a:solidFill>
              <a:srgbClr val="FFFFFF"/>
            </a:solidFill>
            <a:prstDash val="solid"/>
          </a:ln>
        </p:spPr>
      </p:sp>
      <p:sp>
        <p:nvSpPr>
          <p:cNvPr id="10" name="Text 8"/>
          <p:cNvSpPr/>
          <p:nvPr/>
        </p:nvSpPr>
        <p:spPr>
          <a:xfrm>
            <a:off x="3657600" y="1463040"/>
            <a:ext cx="1463040" cy="548640"/>
          </a:xfrm>
          <a:prstGeom prst="rect">
            <a:avLst/>
          </a:prstGeom>
          <a:noFill/>
          <a:ln/>
        </p:spPr>
        <p:txBody>
          <a:bodyPr wrap="square" rtlCol="0" anchor="ctr"/>
          <a:lstStyle/>
          <a:p>
            <a:pPr algn="ctr" indent="0" marL="0">
              <a:buNone/>
            </a:pPr>
            <a:r>
              <a:rPr lang="en-US" sz="1400" b="1" dirty="0">
                <a:solidFill>
                  <a:srgbClr val="FFFFFF"/>
                </a:solidFill>
                <a:latin typeface="Fira Sans, Arial" pitchFamily="34" charset="0"/>
                <a:ea typeface="Fira Sans, Arial" pitchFamily="34" charset="-122"/>
                <a:cs typeface="Fira Sans, Arial" pitchFamily="34" charset="-120"/>
              </a:rPr>
              <a:t>Classify</a:t>
            </a:r>
            <a:endParaRPr lang="en-US" sz="1400" dirty="0"/>
          </a:p>
        </p:txBody>
      </p:sp>
      <p:sp>
        <p:nvSpPr>
          <p:cNvPr id="11" name="Shape 9"/>
          <p:cNvSpPr/>
          <p:nvPr/>
        </p:nvSpPr>
        <p:spPr>
          <a:xfrm>
            <a:off x="5120640" y="1600200"/>
            <a:ext cx="137160" cy="274320"/>
          </a:xfrm>
          <a:prstGeom prst="rightArrow">
            <a:avLst/>
          </a:prstGeom>
          <a:solidFill>
            <a:srgbClr val="C4C4C4"/>
          </a:solidFill>
          <a:ln/>
        </p:spPr>
      </p:sp>
      <p:sp>
        <p:nvSpPr>
          <p:cNvPr id="12" name="Shape 10"/>
          <p:cNvSpPr/>
          <p:nvPr/>
        </p:nvSpPr>
        <p:spPr>
          <a:xfrm>
            <a:off x="5257800" y="1463040"/>
            <a:ext cx="1463040" cy="548640"/>
          </a:xfrm>
          <a:prstGeom prst="roundRect">
            <a:avLst/>
          </a:prstGeom>
          <a:solidFill>
            <a:srgbClr val="30475E"/>
          </a:solidFill>
          <a:ln w="12700">
            <a:solidFill>
              <a:srgbClr val="FFFFFF"/>
            </a:solidFill>
            <a:prstDash val="solid"/>
          </a:ln>
        </p:spPr>
      </p:sp>
      <p:sp>
        <p:nvSpPr>
          <p:cNvPr id="13" name="Text 11"/>
          <p:cNvSpPr/>
          <p:nvPr/>
        </p:nvSpPr>
        <p:spPr>
          <a:xfrm>
            <a:off x="5257800" y="1463040"/>
            <a:ext cx="1463040" cy="548640"/>
          </a:xfrm>
          <a:prstGeom prst="rect">
            <a:avLst/>
          </a:prstGeom>
          <a:noFill/>
          <a:ln/>
        </p:spPr>
        <p:txBody>
          <a:bodyPr wrap="square" rtlCol="0" anchor="ctr"/>
          <a:lstStyle/>
          <a:p>
            <a:pPr algn="ctr" indent="0" marL="0">
              <a:buNone/>
            </a:pPr>
            <a:r>
              <a:rPr lang="en-US" sz="1400" b="1" dirty="0">
                <a:solidFill>
                  <a:srgbClr val="FFFFFF"/>
                </a:solidFill>
                <a:latin typeface="Fira Sans, Arial" pitchFamily="34" charset="0"/>
                <a:ea typeface="Fira Sans, Arial" pitchFamily="34" charset="-122"/>
                <a:cs typeface="Fira Sans, Arial" pitchFamily="34" charset="-120"/>
              </a:rPr>
              <a:t>Bytes</a:t>
            </a:r>
            <a:endParaRPr lang="en-US" sz="1400" dirty="0"/>
          </a:p>
        </p:txBody>
      </p:sp>
      <p:sp>
        <p:nvSpPr>
          <p:cNvPr id="14" name="Shape 12"/>
          <p:cNvSpPr/>
          <p:nvPr/>
        </p:nvSpPr>
        <p:spPr>
          <a:xfrm>
            <a:off x="6720840" y="1600200"/>
            <a:ext cx="137160" cy="274320"/>
          </a:xfrm>
          <a:prstGeom prst="rightArrow">
            <a:avLst/>
          </a:prstGeom>
          <a:solidFill>
            <a:srgbClr val="C4C4C4"/>
          </a:solidFill>
          <a:ln/>
        </p:spPr>
      </p:sp>
      <p:sp>
        <p:nvSpPr>
          <p:cNvPr id="15" name="Shape 13"/>
          <p:cNvSpPr/>
          <p:nvPr/>
        </p:nvSpPr>
        <p:spPr>
          <a:xfrm>
            <a:off x="6858000" y="1463040"/>
            <a:ext cx="1463040" cy="548640"/>
          </a:xfrm>
          <a:prstGeom prst="roundRect">
            <a:avLst/>
          </a:prstGeom>
          <a:solidFill>
            <a:srgbClr val="F2A365"/>
          </a:solidFill>
          <a:ln w="12700">
            <a:solidFill>
              <a:srgbClr val="FFFFFF"/>
            </a:solidFill>
            <a:prstDash val="solid"/>
          </a:ln>
        </p:spPr>
      </p:sp>
      <p:sp>
        <p:nvSpPr>
          <p:cNvPr id="16" name="Text 14"/>
          <p:cNvSpPr/>
          <p:nvPr/>
        </p:nvSpPr>
        <p:spPr>
          <a:xfrm>
            <a:off x="6858000" y="1463040"/>
            <a:ext cx="1463040" cy="548640"/>
          </a:xfrm>
          <a:prstGeom prst="rect">
            <a:avLst/>
          </a:prstGeom>
          <a:noFill/>
          <a:ln/>
        </p:spPr>
        <p:txBody>
          <a:bodyPr wrap="square" rtlCol="0" anchor="ctr"/>
          <a:lstStyle/>
          <a:p>
            <a:pPr algn="ctr" indent="0" marL="0">
              <a:buNone/>
            </a:pPr>
            <a:r>
              <a:rPr lang="en-US" sz="1400" b="1" dirty="0">
                <a:solidFill>
                  <a:srgbClr val="FFFFFF"/>
                </a:solidFill>
                <a:latin typeface="Fira Sans, Arial" pitchFamily="34" charset="0"/>
                <a:ea typeface="Fira Sans, Arial" pitchFamily="34" charset="-122"/>
                <a:cs typeface="Fira Sans, Arial" pitchFamily="34" charset="-120"/>
              </a:rPr>
              <a:t>CO₂e</a:t>
            </a:r>
            <a:endParaRPr lang="en-US" sz="1400" dirty="0"/>
          </a:p>
        </p:txBody>
      </p:sp>
      <p:sp>
        <p:nvSpPr>
          <p:cNvPr id="17" name="Shape 15"/>
          <p:cNvSpPr/>
          <p:nvPr/>
        </p:nvSpPr>
        <p:spPr>
          <a:xfrm>
            <a:off x="8321040" y="1600200"/>
            <a:ext cx="137160" cy="274320"/>
          </a:xfrm>
          <a:prstGeom prst="rightArrow">
            <a:avLst/>
          </a:prstGeom>
          <a:solidFill>
            <a:srgbClr val="C4C4C4"/>
          </a:solidFill>
          <a:ln/>
        </p:spPr>
      </p:sp>
      <p:sp>
        <p:nvSpPr>
          <p:cNvPr id="18" name="Shape 16"/>
          <p:cNvSpPr/>
          <p:nvPr/>
        </p:nvSpPr>
        <p:spPr>
          <a:xfrm>
            <a:off x="8458200" y="1463040"/>
            <a:ext cx="1463040" cy="548640"/>
          </a:xfrm>
          <a:prstGeom prst="roundRect">
            <a:avLst/>
          </a:prstGeom>
          <a:solidFill>
            <a:srgbClr val="222831"/>
          </a:solidFill>
          <a:ln w="12700">
            <a:solidFill>
              <a:srgbClr val="FFFFFF"/>
            </a:solidFill>
            <a:prstDash val="solid"/>
          </a:ln>
        </p:spPr>
      </p:sp>
      <p:sp>
        <p:nvSpPr>
          <p:cNvPr id="19" name="Text 17"/>
          <p:cNvSpPr/>
          <p:nvPr/>
        </p:nvSpPr>
        <p:spPr>
          <a:xfrm>
            <a:off x="8458200" y="1463040"/>
            <a:ext cx="1463040" cy="548640"/>
          </a:xfrm>
          <a:prstGeom prst="rect">
            <a:avLst/>
          </a:prstGeom>
          <a:noFill/>
          <a:ln/>
        </p:spPr>
        <p:txBody>
          <a:bodyPr wrap="square" rtlCol="0" anchor="ctr"/>
          <a:lstStyle/>
          <a:p>
            <a:pPr algn="ctr" indent="0" marL="0">
              <a:buNone/>
            </a:pPr>
            <a:r>
              <a:rPr lang="en-US" sz="1400" b="1" dirty="0">
                <a:solidFill>
                  <a:srgbClr val="FFFFFF"/>
                </a:solidFill>
                <a:latin typeface="Fira Sans, Arial" pitchFamily="34" charset="0"/>
                <a:ea typeface="Fira Sans, Arial" pitchFamily="34" charset="-122"/>
                <a:cs typeface="Fira Sans, Arial" pitchFamily="34" charset="-120"/>
              </a:rPr>
              <a:t>Dashboard</a:t>
            </a:r>
            <a:endParaRPr lang="en-US" sz="1400" dirty="0"/>
          </a:p>
        </p:txBody>
      </p:sp>
      <p:sp>
        <p:nvSpPr>
          <p:cNvPr id="20" name="Text 18"/>
          <p:cNvSpPr/>
          <p:nvPr/>
        </p:nvSpPr>
        <p:spPr>
          <a:xfrm>
            <a:off x="457200" y="2377440"/>
            <a:ext cx="8229600" cy="2011680"/>
          </a:xfrm>
          <a:prstGeom prst="rect">
            <a:avLst/>
          </a:prstGeom>
          <a:noFill/>
          <a:ln/>
        </p:spPr>
        <p:txBody>
          <a:bodyPr wrap="square" rtlCol="0" anchor="t"/>
          <a:lstStyle/>
          <a:p>
            <a:pPr indent="0" marL="0">
              <a:buNone/>
            </a:pPr>
            <a:r>
              <a:rPr lang="en-US" sz="1600" b="1" dirty="0">
                <a:solidFill>
                  <a:srgbClr val="222831"/>
                </a:solidFill>
                <a:latin typeface="Fira Sans, Arial" pitchFamily="34" charset="0"/>
                <a:ea typeface="Fira Sans, Arial" pitchFamily="34" charset="-122"/>
                <a:cs typeface="Fira Sans, Arial" pitchFamily="34" charset="-120"/>
              </a:rPr>
              <a:t>Measurement Design
</a:t>
            </a:r>
            <a:endParaRPr lang="en-US" sz="1600" dirty="0"/>
          </a:p>
          <a:p>
            <a:pPr indent="0" marL="0">
              <a:buNone/>
            </a:pPr>
            <a:r>
              <a:rPr lang="en-US" sz="1400" dirty="0">
                <a:solidFill>
                  <a:srgbClr val="30475E"/>
                </a:solidFill>
                <a:latin typeface="Fira Sans, Arial" pitchFamily="34" charset="0"/>
                <a:ea typeface="Fira Sans, Arial" pitchFamily="34" charset="-122"/>
                <a:cs typeface="Fira Sans, Arial" pitchFamily="34" charset="-120"/>
              </a:rPr>
              <a:t>• Source: Chrome webRequest API (onBeforeRequest, onCompleted, onErrorOccurred)
</a:t>
            </a:r>
            <a:pPr indent="0" marL="0">
              <a:buNone/>
            </a:pPr>
            <a:r>
              <a:rPr lang="en-US" sz="1400" dirty="0">
                <a:solidFill>
                  <a:srgbClr val="30475E"/>
                </a:solidFill>
                <a:latin typeface="Fira Sans, Arial" pitchFamily="34" charset="0"/>
                <a:ea typeface="Fira Sans, Arial" pitchFamily="34" charset="-122"/>
                <a:cs typeface="Fira Sans, Arial" pitchFamily="34" charset="-120"/>
              </a:rPr>
              <a:t>• Classification: failed | from cache | 304 Not Modified | network transfer
</a:t>
            </a:r>
            <a:pPr indent="0" marL="0">
              <a:buNone/>
            </a:pPr>
            <a:r>
              <a:rPr lang="en-US" sz="1400" dirty="0">
                <a:solidFill>
                  <a:srgbClr val="30475E"/>
                </a:solidFill>
                <a:latin typeface="Fira Sans, Arial" pitchFamily="34" charset="0"/>
                <a:ea typeface="Fira Sans, Arial" pitchFamily="34" charset="-122"/>
                <a:cs typeface="Fira Sans, Arial" pitchFamily="34" charset="-120"/>
              </a:rPr>
              <a:t>• Per request: URL, type, status, Content-Length, Content-Encoding, initiator
</a:t>
            </a:r>
            <a:pPr indent="0" marL="0">
              <a:buNone/>
            </a:pPr>
            <a:r>
              <a:rPr lang="en-US" sz="1400" dirty="0">
                <a:solidFill>
                  <a:srgbClr val="30475E"/>
                </a:solidFill>
                <a:latin typeface="Fira Sans, Arial" pitchFamily="34" charset="0"/>
                <a:ea typeface="Fira Sans, Arial" pitchFamily="34" charset="-122"/>
                <a:cs typeface="Fira Sans, Arial" pitchFamily="34" charset="-120"/>
              </a:rPr>
              <a:t>• Unknown sizes flagged (not guessed)  •  Serialized storage prevents race conditions
</a:t>
            </a:r>
            <a:pPr indent="0" marL="0">
              <a:buNone/>
            </a:pPr>
            <a:r>
              <a:rPr lang="en-US" sz="1400" dirty="0">
                <a:solidFill>
                  <a:srgbClr val="30475E"/>
                </a:solidFill>
                <a:latin typeface="Fira Sans, Arial" pitchFamily="34" charset="0"/>
                <a:ea typeface="Fira Sans, Arial" pitchFamily="34" charset="-122"/>
                <a:cs typeface="Fira Sans, Arial" pitchFamily="34" charset="-120"/>
              </a:rPr>
              <a:t>• Privacy: all data stays local in the browser</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731520"/>
          </a:xfrm>
          <a:prstGeom prst="rect">
            <a:avLst/>
          </a:prstGeom>
          <a:noFill/>
          <a:ln/>
        </p:spPr>
        <p:txBody>
          <a:bodyPr wrap="square" rtlCol="0" anchor="ctr"/>
          <a:lstStyle/>
          <a:p>
            <a:pPr algn="l" indent="0" marL="0">
              <a:buNone/>
            </a:pPr>
            <a:r>
              <a:rPr lang="en-US" sz="2600" b="1" dirty="0">
                <a:solidFill>
                  <a:srgbClr val="222831"/>
                </a:solidFill>
                <a:latin typeface="Fira Sans, Arial" pitchFamily="34" charset="0"/>
                <a:ea typeface="Fira Sans, Arial" pitchFamily="34" charset="-122"/>
                <a:cs typeface="Fira Sans, Arial" pitchFamily="34" charset="-120"/>
              </a:rPr>
              <a:t>Methodology: Estimation Models</a:t>
            </a:r>
            <a:endParaRPr lang="en-US" sz="2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2560320"/>
        </p:xfrm>
        <a:graphic>
          <a:graphicData uri="http://schemas.openxmlformats.org/drawingml/2006/table">
            <a:tbl>
              <a:tblPr/>
              <a:tblGrid>
                <a:gridCol w="1371600"/>
                <a:gridCol w="3657600"/>
                <a:gridCol w="3200400"/>
              </a:tblGrid>
              <a:tr h="426720">
                <a:tc>
                  <a:txBody>
                    <a:bodyPr/>
                    <a:lstStyle/>
                    <a:p>
                      <a:pPr indent="0" marL="0">
                        <a:buNone/>
                      </a:pPr>
                      <a:r>
                        <a:rPr lang="en-US" sz="1400" b="1" dirty="0">
                          <a:solidFill>
                            <a:srgbClr val="FFFFFF"/>
                          </a:solidFill>
                          <a:latin typeface="Fira Sans, Arial" pitchFamily="34" charset="0"/>
                          <a:ea typeface="Fira Sans, Arial" pitchFamily="34" charset="-122"/>
                          <a:cs typeface="Fira Sans, Arial" pitchFamily="34" charset="-120"/>
                        </a:rPr>
                        <a:t>Model</a:t>
                      </a:r>
                      <a:endParaRPr lang="en-US" sz="14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222831"/>
                    </a:solidFill>
                  </a:tcPr>
                </a:tc>
                <a:tc>
                  <a:txBody>
                    <a:bodyPr/>
                    <a:lstStyle/>
                    <a:p>
                      <a:pPr indent="0" marL="0">
                        <a:buNone/>
                      </a:pPr>
                      <a:r>
                        <a:rPr lang="en-US" sz="1400" b="1" dirty="0">
                          <a:solidFill>
                            <a:srgbClr val="FFFFFF"/>
                          </a:solidFill>
                          <a:latin typeface="Fira Sans, Arial" pitchFamily="34" charset="0"/>
                          <a:ea typeface="Fira Sans, Arial" pitchFamily="34" charset="-122"/>
                          <a:cs typeface="Fira Sans, Arial" pitchFamily="34" charset="-120"/>
                        </a:rPr>
                        <a:t>Approach</a:t>
                      </a:r>
                      <a:endParaRPr lang="en-US" sz="14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222831"/>
                    </a:solidFill>
                  </a:tcPr>
                </a:tc>
                <a:tc>
                  <a:txBody>
                    <a:bodyPr/>
                    <a:lstStyle/>
                    <a:p>
                      <a:pPr indent="0" marL="0">
                        <a:buNone/>
                      </a:pPr>
                      <a:r>
                        <a:rPr lang="en-US" sz="1400" b="1" dirty="0">
                          <a:solidFill>
                            <a:srgbClr val="FFFFFF"/>
                          </a:solidFill>
                          <a:latin typeface="Fira Sans, Arial" pitchFamily="34" charset="0"/>
                          <a:ea typeface="Fira Sans, Arial" pitchFamily="34" charset="-122"/>
                          <a:cs typeface="Fira Sans, Arial" pitchFamily="34" charset="-120"/>
                        </a:rPr>
                        <a:t>Role in Emissync</a:t>
                      </a:r>
                      <a:endParaRPr lang="en-US" sz="14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222831"/>
                    </a:solidFill>
                  </a:tcPr>
                </a:tc>
              </a:tr>
              <a:tr h="426720">
                <a:tc>
                  <a:txBody>
                    <a:bodyPr/>
                    <a:lstStyle/>
                    <a:p>
                      <a:pPr indent="0" marL="0">
                        <a:buNone/>
                      </a:pPr>
                      <a:r>
                        <a:rPr lang="en-US" sz="1300" b="1" dirty="0">
                          <a:solidFill>
                            <a:srgbClr val="30475E"/>
                          </a:solidFill>
                          <a:latin typeface="Fira Sans, Arial" pitchFamily="34" charset="0"/>
                          <a:ea typeface="Fira Sans, Arial" pitchFamily="34" charset="-122"/>
                          <a:cs typeface="Fira Sans, Arial" pitchFamily="34" charset="-120"/>
                        </a:rPr>
                        <a:t>SWDM v4</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indent="0" marL="0">
                        <a:buNone/>
                      </a:pPr>
                      <a:r>
                        <a:rPr lang="en-US" sz="1300" dirty="0">
                          <a:solidFill>
                            <a:srgbClr val="30475E"/>
                          </a:solidFill>
                          <a:latin typeface="Fira Sans, Arial" pitchFamily="34" charset="0"/>
                          <a:ea typeface="Fira Sans, Arial" pitchFamily="34" charset="-122"/>
                          <a:cs typeface="Fira Sans, Arial" pitchFamily="34" charset="-120"/>
                        </a:rPr>
                        <a:t>Bottom-up, 0.300 kWh/GB, split by device/network/DC/embodied</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indent="0" marL="0">
                        <a:buNone/>
                      </a:pPr>
                      <a:r>
                        <a:rPr lang="en-US" sz="1300" b="1" dirty="0">
                          <a:solidFill>
                            <a:srgbClr val="F2A365"/>
                          </a:solidFill>
                          <a:latin typeface="Fira Sans, Arial" pitchFamily="34" charset="0"/>
                          <a:ea typeface="Fira Sans, Arial" pitchFamily="34" charset="-122"/>
                          <a:cs typeface="Fira Sans, Arial" pitchFamily="34" charset="-120"/>
                        </a:rPr>
                        <a:t>Baseline (via CO2.js)</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r>
              <a:tr h="426720">
                <a:tc>
                  <a:txBody>
                    <a:bodyPr/>
                    <a:lstStyle/>
                    <a:p>
                      <a:pPr indent="0" marL="0">
                        <a:buNone/>
                      </a:pPr>
                      <a:r>
                        <a:rPr lang="en-US" sz="1300" dirty="0">
                          <a:solidFill>
                            <a:srgbClr val="30475E"/>
                          </a:solidFill>
                          <a:latin typeface="Fira Sans, Arial" pitchFamily="34" charset="0"/>
                          <a:ea typeface="Fira Sans, Arial" pitchFamily="34" charset="-122"/>
                          <a:cs typeface="Fira Sans, Arial" pitchFamily="34" charset="-120"/>
                        </a:rPr>
                        <a:t>SCI (ISO 21031:2024)</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indent="0" marL="0">
                        <a:buNone/>
                      </a:pPr>
                      <a:r>
                        <a:rPr lang="en-US" sz="1300" dirty="0">
                          <a:solidFill>
                            <a:srgbClr val="30475E"/>
                          </a:solidFill>
                          <a:latin typeface="Fira Sans, Arial" pitchFamily="34" charset="0"/>
                          <a:ea typeface="Fira Sans, Arial" pitchFamily="34" charset="-122"/>
                          <a:cs typeface="Fira Sans, Arial" pitchFamily="34" charset="-120"/>
                        </a:rPr>
                        <a:t>SCI = ((E × I) + M) / R per functional unit</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indent="0" marL="0">
                        <a:buNone/>
                      </a:pPr>
                      <a:r>
                        <a:rPr lang="en-US" sz="1300" dirty="0">
                          <a:solidFill>
                            <a:srgbClr val="30475E"/>
                          </a:solidFill>
                          <a:latin typeface="Fira Sans, Arial" pitchFamily="34" charset="0"/>
                          <a:ea typeface="Fira Sans, Arial" pitchFamily="34" charset="-122"/>
                          <a:cs typeface="Fira Sans, Arial" pitchFamily="34" charset="-120"/>
                        </a:rPr>
                        <a:t>Session-level framing (R = one session)</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r>
              <a:tr h="426720">
                <a:tc>
                  <a:txBody>
                    <a:bodyPr/>
                    <a:lstStyle/>
                    <a:p>
                      <a:pPr indent="0" marL="0">
                        <a:buNone/>
                      </a:pPr>
                      <a:r>
                        <a:rPr lang="en-US" sz="1300" dirty="0">
                          <a:solidFill>
                            <a:srgbClr val="30475E"/>
                          </a:solidFill>
                          <a:latin typeface="Fira Sans, Arial" pitchFamily="34" charset="0"/>
                          <a:ea typeface="Fira Sans, Arial" pitchFamily="34" charset="-122"/>
                          <a:cs typeface="Fira Sans, Arial" pitchFamily="34" charset="-120"/>
                        </a:rPr>
                        <a:t>OneByte</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indent="0" marL="0">
                        <a:buNone/>
                      </a:pPr>
                      <a:r>
                        <a:rPr lang="en-US" sz="1300" dirty="0">
                          <a:solidFill>
                            <a:srgbClr val="30475E"/>
                          </a:solidFill>
                          <a:latin typeface="Fira Sans, Arial" pitchFamily="34" charset="0"/>
                          <a:ea typeface="Fira Sans, Arial" pitchFamily="34" charset="-122"/>
                          <a:cs typeface="Fira Sans, Arial" pitchFamily="34" charset="-120"/>
                        </a:rPr>
                        <a:t>Top-down bytes × fixed factors</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indent="0" marL="0">
                        <a:buNone/>
                      </a:pPr>
                      <a:r>
                        <a:rPr lang="en-US" sz="1300" dirty="0">
                          <a:solidFill>
                            <a:srgbClr val="30475E"/>
                          </a:solidFill>
                          <a:latin typeface="Fira Sans, Arial" pitchFamily="34" charset="0"/>
                          <a:ea typeface="Fira Sans, Arial" pitchFamily="34" charset="-122"/>
                          <a:cs typeface="Fira Sans, Arial" pitchFamily="34" charset="-120"/>
                        </a:rPr>
                        <a:t>Comparison only; ignores device energy</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r>
              <a:tr h="426720">
                <a:tc>
                  <a:txBody>
                    <a:bodyPr/>
                    <a:lstStyle/>
                    <a:p>
                      <a:pPr indent="0" marL="0">
                        <a:buNone/>
                      </a:pPr>
                      <a:r>
                        <a:rPr lang="en-US" sz="1300" dirty="0">
                          <a:solidFill>
                            <a:srgbClr val="30475E"/>
                          </a:solidFill>
                          <a:latin typeface="Fira Sans, Arial" pitchFamily="34" charset="0"/>
                          <a:ea typeface="Fira Sans, Arial" pitchFamily="34" charset="-122"/>
                          <a:cs typeface="Fira Sans, Arial" pitchFamily="34" charset="-120"/>
                        </a:rPr>
                        <a:t>EcoIndex</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indent="0" marL="0">
                        <a:buNone/>
                      </a:pPr>
                      <a:r>
                        <a:rPr lang="en-US" sz="1300" dirty="0">
                          <a:solidFill>
                            <a:srgbClr val="30475E"/>
                          </a:solidFill>
                          <a:latin typeface="Fira Sans, Arial" pitchFamily="34" charset="0"/>
                          <a:ea typeface="Fira Sans, Arial" pitchFamily="34" charset="-122"/>
                          <a:cs typeface="Fira Sans, Arial" pitchFamily="34" charset="-120"/>
                        </a:rPr>
                        <a:t>DOM size, request count, payload score</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indent="0" marL="0">
                        <a:buNone/>
                      </a:pPr>
                      <a:r>
                        <a:rPr lang="en-US" sz="1300" dirty="0">
                          <a:solidFill>
                            <a:srgbClr val="30475E"/>
                          </a:solidFill>
                          <a:latin typeface="Fira Sans, Arial" pitchFamily="34" charset="0"/>
                          <a:ea typeface="Fira Sans, Arial" pitchFamily="34" charset="-122"/>
                          <a:cs typeface="Fira Sans, Arial" pitchFamily="34" charset="-120"/>
                        </a:rPr>
                        <a:t>Motivates adding request &amp; DOM context</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r>
              <a:tr h="426720">
                <a:tc>
                  <a:txBody>
                    <a:bodyPr/>
                    <a:lstStyle/>
                    <a:p>
                      <a:pPr indent="0" marL="0">
                        <a:buNone/>
                      </a:pPr>
                      <a:r>
                        <a:rPr lang="en-US" sz="1300" dirty="0">
                          <a:solidFill>
                            <a:srgbClr val="30475E"/>
                          </a:solidFill>
                          <a:latin typeface="Fira Sans, Arial" pitchFamily="34" charset="0"/>
                          <a:ea typeface="Fira Sans, Arial" pitchFamily="34" charset="-122"/>
                          <a:cs typeface="Fira Sans, Arial" pitchFamily="34" charset="-120"/>
                        </a:rPr>
                        <a:t>DIMPACT</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indent="0" marL="0">
                        <a:buNone/>
                      </a:pPr>
                      <a:r>
                        <a:rPr lang="en-US" sz="1300" dirty="0">
                          <a:solidFill>
                            <a:srgbClr val="30475E"/>
                          </a:solidFill>
                          <a:latin typeface="Fira Sans, Arial" pitchFamily="34" charset="0"/>
                          <a:ea typeface="Fira Sans, Arial" pitchFamily="34" charset="-122"/>
                          <a:cs typeface="Fira Sans, Arial" pitchFamily="34" charset="-120"/>
                        </a:rPr>
                        <a:t>Streaming LCA with fixed base load</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indent="0" marL="0">
                        <a:buNone/>
                      </a:pPr>
                      <a:r>
                        <a:rPr lang="en-US" sz="1300" dirty="0">
                          <a:solidFill>
                            <a:srgbClr val="30475E"/>
                          </a:solidFill>
                          <a:latin typeface="Fira Sans, Arial" pitchFamily="34" charset="0"/>
                          <a:ea typeface="Fira Sans, Arial" pitchFamily="34" charset="-122"/>
                          <a:cs typeface="Fira Sans, Arial" pitchFamily="34" charset="-120"/>
                        </a:rPr>
                        <a:t>Shows emissions are not purely linear in data</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r>
            </a:tbl>
          </a:graphicData>
        </a:graphic>
      </p:graphicFrame>
      <p:sp>
        <p:nvSpPr>
          <p:cNvPr id="4" name="Text 1"/>
          <p:cNvSpPr/>
          <p:nvPr/>
        </p:nvSpPr>
        <p:spPr>
          <a:xfrm>
            <a:off x="457200" y="4114800"/>
            <a:ext cx="8229600" cy="731520"/>
          </a:xfrm>
          <a:prstGeom prst="rect">
            <a:avLst/>
          </a:prstGeom>
          <a:noFill/>
          <a:ln/>
        </p:spPr>
        <p:txBody>
          <a:bodyPr wrap="square" rtlCol="0" anchor="ctr"/>
          <a:lstStyle/>
          <a:p>
            <a:pPr indent="0" marL="0">
              <a:buNone/>
            </a:pPr>
            <a:r>
              <a:rPr lang="en-US" sz="1400" b="1" dirty="0">
                <a:solidFill>
                  <a:srgbClr val="222831"/>
                </a:solidFill>
                <a:latin typeface="Fira Sans, Arial" pitchFamily="34" charset="0"/>
                <a:ea typeface="Fira Sans, Arial" pitchFamily="34" charset="-122"/>
                <a:cs typeface="Fira Sans, Arial" pitchFamily="34" charset="-120"/>
              </a:rPr>
              <a:t>Planned Experiments
</a:t>
            </a:r>
            <a:endParaRPr lang="en-US" sz="1400" dirty="0"/>
          </a:p>
          <a:p>
            <a:pPr indent="0" marL="0">
              <a:buNone/>
            </a:pPr>
            <a:r>
              <a:rPr lang="en-US" sz="1300" dirty="0">
                <a:solidFill>
                  <a:srgbClr val="30475E"/>
                </a:solidFill>
                <a:latin typeface="Fira Sans, Arial" pitchFamily="34" charset="0"/>
                <a:ea typeface="Fira Sans, Arial" pitchFamily="34" charset="-122"/>
                <a:cs typeface="Fira Sans, Arial" pitchFamily="34" charset="-120"/>
              </a:rPr>
              <a:t>A: Measure 20-30 websites (size, transfer, duration, CO₂e)  •  B: Same sites across browsers
</a:t>
            </a:r>
            <a:pPr indent="0" marL="0">
              <a:buNone/>
            </a:pPr>
            <a:r>
              <a:rPr lang="en-US" sz="1300" dirty="0">
                <a:solidFill>
                  <a:srgbClr val="30475E"/>
                </a:solidFill>
                <a:latin typeface="Fira Sans, Arial" pitchFamily="34" charset="0"/>
                <a:ea typeface="Fira Sans, Arial" pitchFamily="34" charset="-122"/>
                <a:cs typeface="Fira Sans, Arial" pitchFamily="34" charset="-120"/>
              </a:rPr>
              <a:t>C: Page load vs 5-min vs 10-min sessions  •  D: SWDM baseline vs enhanced estimate (% diff)</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731520"/>
          </a:xfrm>
          <a:prstGeom prst="rect">
            <a:avLst/>
          </a:prstGeom>
          <a:noFill/>
          <a:ln/>
        </p:spPr>
        <p:txBody>
          <a:bodyPr wrap="square" rtlCol="0" anchor="ctr"/>
          <a:lstStyle/>
          <a:p>
            <a:pPr algn="l" indent="0" marL="0">
              <a:buNone/>
            </a:pPr>
            <a:r>
              <a:rPr lang="en-US" sz="2800" b="1" dirty="0">
                <a:solidFill>
                  <a:srgbClr val="222831"/>
                </a:solidFill>
                <a:latin typeface="Fira Sans, Arial" pitchFamily="34" charset="0"/>
                <a:ea typeface="Fira Sans, Arial" pitchFamily="34" charset="-122"/>
                <a:cs typeface="Fira Sans, Arial" pitchFamily="34" charset="-120"/>
              </a:rPr>
              <a:t>Tech Stack</a:t>
            </a:r>
            <a:endParaRPr lang="en-US" sz="2800" dirty="0"/>
          </a:p>
        </p:txBody>
      </p:sp>
      <p:sp>
        <p:nvSpPr>
          <p:cNvPr id="3" name="Shape 1"/>
          <p:cNvSpPr/>
          <p:nvPr/>
        </p:nvSpPr>
        <p:spPr>
          <a:xfrm>
            <a:off x="731520" y="1600200"/>
            <a:ext cx="320040" cy="320040"/>
          </a:xfrm>
          <a:prstGeom prst="ellipse">
            <a:avLst/>
          </a:prstGeom>
          <a:solidFill>
            <a:srgbClr val="F2A365"/>
          </a:solidFill>
          <a:ln/>
        </p:spPr>
      </p:sp>
      <p:sp>
        <p:nvSpPr>
          <p:cNvPr id="4" name="Text 2"/>
          <p:cNvSpPr/>
          <p:nvPr/>
        </p:nvSpPr>
        <p:spPr>
          <a:xfrm>
            <a:off x="1188720" y="1645920"/>
            <a:ext cx="6858000" cy="274320"/>
          </a:xfrm>
          <a:prstGeom prst="rect">
            <a:avLst/>
          </a:prstGeom>
          <a:noFill/>
          <a:ln/>
        </p:spPr>
        <p:txBody>
          <a:bodyPr wrap="square" rtlCol="0" anchor="ctr"/>
          <a:lstStyle/>
          <a:p>
            <a:pPr indent="0" marL="0">
              <a:buNone/>
            </a:pPr>
            <a:r>
              <a:rPr lang="en-US" sz="1800" dirty="0">
                <a:solidFill>
                  <a:srgbClr val="222831"/>
                </a:solidFill>
                <a:latin typeface="Fira Sans, Arial" pitchFamily="34" charset="0"/>
                <a:ea typeface="Fira Sans, Arial" pitchFamily="34" charset="-122"/>
                <a:cs typeface="Fira Sans, Arial" pitchFamily="34" charset="-120"/>
              </a:rPr>
              <a:t>Chrome Extension (Manifest V3)</a:t>
            </a:r>
            <a:endParaRPr lang="en-US" sz="1800" dirty="0"/>
          </a:p>
        </p:txBody>
      </p:sp>
      <p:sp>
        <p:nvSpPr>
          <p:cNvPr id="5" name="Shape 3"/>
          <p:cNvSpPr/>
          <p:nvPr/>
        </p:nvSpPr>
        <p:spPr>
          <a:xfrm>
            <a:off x="731520" y="2103120"/>
            <a:ext cx="320040" cy="320040"/>
          </a:xfrm>
          <a:prstGeom prst="ellipse">
            <a:avLst/>
          </a:prstGeom>
          <a:solidFill>
            <a:srgbClr val="30475E"/>
          </a:solidFill>
          <a:ln/>
        </p:spPr>
      </p:sp>
      <p:sp>
        <p:nvSpPr>
          <p:cNvPr id="6" name="Text 4"/>
          <p:cNvSpPr/>
          <p:nvPr/>
        </p:nvSpPr>
        <p:spPr>
          <a:xfrm>
            <a:off x="1188720" y="2148840"/>
            <a:ext cx="6858000" cy="274320"/>
          </a:xfrm>
          <a:prstGeom prst="rect">
            <a:avLst/>
          </a:prstGeom>
          <a:noFill/>
          <a:ln/>
        </p:spPr>
        <p:txBody>
          <a:bodyPr wrap="square" rtlCol="0" anchor="ctr"/>
          <a:lstStyle/>
          <a:p>
            <a:pPr indent="0" marL="0">
              <a:buNone/>
            </a:pPr>
            <a:r>
              <a:rPr lang="en-US" sz="1800" dirty="0">
                <a:solidFill>
                  <a:srgbClr val="222831"/>
                </a:solidFill>
                <a:latin typeface="Fira Sans, Arial" pitchFamily="34" charset="0"/>
                <a:ea typeface="Fira Sans, Arial" pitchFamily="34" charset="-122"/>
                <a:cs typeface="Fira Sans, Arial" pitchFamily="34" charset="-120"/>
              </a:rPr>
              <a:t>JavaScript (ES6+)</a:t>
            </a:r>
            <a:endParaRPr lang="en-US" sz="1800" dirty="0"/>
          </a:p>
        </p:txBody>
      </p:sp>
      <p:sp>
        <p:nvSpPr>
          <p:cNvPr id="7" name="Shape 5"/>
          <p:cNvSpPr/>
          <p:nvPr/>
        </p:nvSpPr>
        <p:spPr>
          <a:xfrm>
            <a:off x="731520" y="2606040"/>
            <a:ext cx="320040" cy="320040"/>
          </a:xfrm>
          <a:prstGeom prst="ellipse">
            <a:avLst/>
          </a:prstGeom>
          <a:solidFill>
            <a:srgbClr val="F2A365"/>
          </a:solidFill>
          <a:ln/>
        </p:spPr>
      </p:sp>
      <p:sp>
        <p:nvSpPr>
          <p:cNvPr id="8" name="Text 6"/>
          <p:cNvSpPr/>
          <p:nvPr/>
        </p:nvSpPr>
        <p:spPr>
          <a:xfrm>
            <a:off x="1188720" y="2651760"/>
            <a:ext cx="6858000" cy="274320"/>
          </a:xfrm>
          <a:prstGeom prst="rect">
            <a:avLst/>
          </a:prstGeom>
          <a:noFill/>
          <a:ln/>
        </p:spPr>
        <p:txBody>
          <a:bodyPr wrap="square" rtlCol="0" anchor="ctr"/>
          <a:lstStyle/>
          <a:p>
            <a:pPr indent="0" marL="0">
              <a:buNone/>
            </a:pPr>
            <a:r>
              <a:rPr lang="en-US" sz="1800" dirty="0">
                <a:solidFill>
                  <a:srgbClr val="222831"/>
                </a:solidFill>
                <a:latin typeface="Fira Sans, Arial" pitchFamily="34" charset="0"/>
                <a:ea typeface="Fira Sans, Arial" pitchFamily="34" charset="-122"/>
                <a:cs typeface="Fira Sans, Arial" pitchFamily="34" charset="-120"/>
              </a:rPr>
              <a:t>CO2.js (SWDM v4 implementation)</a:t>
            </a:r>
            <a:endParaRPr lang="en-US" sz="1800" dirty="0"/>
          </a:p>
        </p:txBody>
      </p:sp>
      <p:sp>
        <p:nvSpPr>
          <p:cNvPr id="9" name="Shape 7"/>
          <p:cNvSpPr/>
          <p:nvPr/>
        </p:nvSpPr>
        <p:spPr>
          <a:xfrm>
            <a:off x="731520" y="3108960"/>
            <a:ext cx="320040" cy="320040"/>
          </a:xfrm>
          <a:prstGeom prst="ellipse">
            <a:avLst/>
          </a:prstGeom>
          <a:solidFill>
            <a:srgbClr val="30475E"/>
          </a:solidFill>
          <a:ln/>
        </p:spPr>
      </p:sp>
      <p:sp>
        <p:nvSpPr>
          <p:cNvPr id="10" name="Text 8"/>
          <p:cNvSpPr/>
          <p:nvPr/>
        </p:nvSpPr>
        <p:spPr>
          <a:xfrm>
            <a:off x="1188720" y="3154680"/>
            <a:ext cx="6858000" cy="274320"/>
          </a:xfrm>
          <a:prstGeom prst="rect">
            <a:avLst/>
          </a:prstGeom>
          <a:noFill/>
          <a:ln/>
        </p:spPr>
        <p:txBody>
          <a:bodyPr wrap="square" rtlCol="0" anchor="ctr"/>
          <a:lstStyle/>
          <a:p>
            <a:pPr indent="0" marL="0">
              <a:buNone/>
            </a:pPr>
            <a:r>
              <a:rPr lang="en-US" sz="1800" dirty="0">
                <a:solidFill>
                  <a:srgbClr val="222831"/>
                </a:solidFill>
                <a:latin typeface="Fira Sans, Arial" pitchFamily="34" charset="0"/>
                <a:ea typeface="Fira Sans, Arial" pitchFamily="34" charset="-122"/>
                <a:cs typeface="Fira Sans, Arial" pitchFamily="34" charset="-120"/>
              </a:rPr>
              <a:t>chrome.storage.session + .local</a:t>
            </a:r>
            <a:endParaRPr lang="en-US" sz="1800" dirty="0"/>
          </a:p>
        </p:txBody>
      </p:sp>
      <p:sp>
        <p:nvSpPr>
          <p:cNvPr id="11" name="Shape 9"/>
          <p:cNvSpPr/>
          <p:nvPr/>
        </p:nvSpPr>
        <p:spPr>
          <a:xfrm>
            <a:off x="731520" y="3611880"/>
            <a:ext cx="320040" cy="320040"/>
          </a:xfrm>
          <a:prstGeom prst="ellipse">
            <a:avLst/>
          </a:prstGeom>
          <a:solidFill>
            <a:srgbClr val="F2A365"/>
          </a:solidFill>
          <a:ln/>
        </p:spPr>
      </p:sp>
      <p:sp>
        <p:nvSpPr>
          <p:cNvPr id="12" name="Text 10"/>
          <p:cNvSpPr/>
          <p:nvPr/>
        </p:nvSpPr>
        <p:spPr>
          <a:xfrm>
            <a:off x="1188720" y="3657600"/>
            <a:ext cx="6858000" cy="274320"/>
          </a:xfrm>
          <a:prstGeom prst="rect">
            <a:avLst/>
          </a:prstGeom>
          <a:noFill/>
          <a:ln/>
        </p:spPr>
        <p:txBody>
          <a:bodyPr wrap="square" rtlCol="0" anchor="ctr"/>
          <a:lstStyle/>
          <a:p>
            <a:pPr indent="0" marL="0">
              <a:buNone/>
            </a:pPr>
            <a:r>
              <a:rPr lang="en-US" sz="1800" dirty="0">
                <a:solidFill>
                  <a:srgbClr val="222831"/>
                </a:solidFill>
                <a:latin typeface="Fira Sans, Arial" pitchFamily="34" charset="0"/>
                <a:ea typeface="Fira Sans, Arial" pitchFamily="34" charset="-122"/>
                <a:cs typeface="Fira Sans, Arial" pitchFamily="34" charset="-120"/>
              </a:rPr>
              <a:t>Chart.js / Recharts (dashboard)</a:t>
            </a:r>
            <a:endParaRPr lang="en-US" sz="1800" dirty="0"/>
          </a:p>
        </p:txBody>
      </p:sp>
      <p:sp>
        <p:nvSpPr>
          <p:cNvPr id="13" name="Text 11"/>
          <p:cNvSpPr/>
          <p:nvPr/>
        </p:nvSpPr>
        <p:spPr>
          <a:xfrm>
            <a:off x="731520" y="4434840"/>
            <a:ext cx="7315200" cy="365760"/>
          </a:xfrm>
          <a:prstGeom prst="rect">
            <a:avLst/>
          </a:prstGeom>
          <a:noFill/>
          <a:ln/>
        </p:spPr>
        <p:txBody>
          <a:bodyPr wrap="square" rtlCol="0" anchor="ctr"/>
          <a:lstStyle/>
          <a:p>
            <a:pPr indent="0" marL="0">
              <a:buNone/>
            </a:pPr>
            <a:r>
              <a:rPr lang="en-US" sz="1400" i="1" dirty="0">
                <a:solidFill>
                  <a:srgbClr val="C4C4C4"/>
                </a:solidFill>
                <a:latin typeface="Fira Sans, Arial" pitchFamily="34" charset="0"/>
                <a:ea typeface="Fira Sans, Arial" pitchFamily="34" charset="-122"/>
                <a:cs typeface="Fira Sans, Arial" pitchFamily="34" charset="-120"/>
              </a:rPr>
              <a:t>No AI/ML is required for the core measurement and estimation system.</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731520"/>
          </a:xfrm>
          <a:prstGeom prst="rect">
            <a:avLst/>
          </a:prstGeom>
          <a:noFill/>
          <a:ln/>
        </p:spPr>
        <p:txBody>
          <a:bodyPr wrap="square" rtlCol="0" anchor="ctr"/>
          <a:lstStyle/>
          <a:p>
            <a:pPr algn="l" indent="0" marL="0">
              <a:buNone/>
            </a:pPr>
            <a:r>
              <a:rPr lang="en-US" sz="2600" b="1" dirty="0">
                <a:solidFill>
                  <a:srgbClr val="222831"/>
                </a:solidFill>
                <a:latin typeface="Fira Sans, Arial" pitchFamily="34" charset="0"/>
                <a:ea typeface="Fira Sans, Arial" pitchFamily="34" charset="-122"/>
                <a:cs typeface="Fira Sans, Arial" pitchFamily="34" charset="-120"/>
              </a:rPr>
              <a:t>Work Completed: Prototype Features (v0.1)</a:t>
            </a:r>
            <a:endParaRPr lang="en-US" sz="2600" dirty="0"/>
          </a:p>
        </p:txBody>
      </p:sp>
      <p:sp>
        <p:nvSpPr>
          <p:cNvPr id="3" name="Text 1"/>
          <p:cNvSpPr/>
          <p:nvPr/>
        </p:nvSpPr>
        <p:spPr>
          <a:xfrm>
            <a:off x="457200" y="1371600"/>
            <a:ext cx="8229600" cy="3200400"/>
          </a:xfrm>
          <a:prstGeom prst="rect">
            <a:avLst/>
          </a:prstGeom>
          <a:noFill/>
          <a:ln/>
        </p:spPr>
        <p:txBody>
          <a:bodyPr wrap="square" rtlCol="0" anchor="t"/>
          <a:lstStyle/>
          <a:p>
            <a:r>
              <a:rPr lang="en-US" sz="1700" dirty="0">
                <a:solidFill>
                  <a:srgbClr val="222831"/>
                </a:solidFill>
                <a:latin typeface="Fira Sans, Arial" pitchFamily="34" charset="0"/>
                <a:ea typeface="Fira Sans, Arial" pitchFamily="34" charset="-122"/>
                <a:cs typeface="Fira Sans, Arial" pitchFamily="34" charset="-120"/>
              </a:rPr>
              <a:t>Network monitoring via webRequest API (onBeforeRequest, onCompleted, onErrorOccurred)</a:t>
            </a:r>
            <a:pPr indent="0" marL="0">
              <a:buNone/>
            </a:pPr>
            <a:r>
              <a:rPr lang="en-US" sz="1700" dirty="0">
                <a:solidFill>
                  <a:srgbClr val="222831"/>
                </a:solidFill>
                <a:latin typeface="Fira Sans, Arial" pitchFamily="34" charset="0"/>
                <a:ea typeface="Fira Sans, Arial" pitchFamily="34" charset="-122"/>
                <a:cs typeface="Fira Sans, Arial" pitchFamily="34" charset="-120"/>
              </a:rPr>
              <a:t>Per-request classification: network | from cache | 304 Not Modified | failed</a:t>
            </a:r>
            <a:pPr indent="0" marL="0">
              <a:buNone/>
            </a:pPr>
            <a:r>
              <a:rPr lang="en-US" sz="1700" dirty="0">
                <a:solidFill>
                  <a:srgbClr val="222831"/>
                </a:solidFill>
                <a:latin typeface="Fira Sans, Arial" pitchFamily="34" charset="0"/>
                <a:ea typeface="Fira Sans, Arial" pitchFamily="34" charset="-122"/>
                <a:cs typeface="Fira Sans, Arial" pitchFamily="34" charset="-120"/>
              </a:rPr>
              <a:t>Popup UI: request counts, bytes transferred, unknown-size count, breakdown by resource type</a:t>
            </a:r>
            <a:pPr indent="0" marL="0">
              <a:buNone/>
            </a:pPr>
            <a:r>
              <a:rPr lang="en-US" sz="1700" dirty="0">
                <a:solidFill>
                  <a:srgbClr val="222831"/>
                </a:solidFill>
                <a:latin typeface="Fira Sans, Arial" pitchFamily="34" charset="0"/>
                <a:ea typeface="Fira Sans, Arial" pitchFamily="34" charset="-122"/>
                <a:cs typeface="Fira Sans, Arial" pitchFamily="34" charset="-120"/>
              </a:rPr>
              <a:t>JSON export with defined data contract + cache-state label (cold/warm)</a:t>
            </a:r>
            <a:pPr indent="0" marL="0">
              <a:buNone/>
            </a:pPr>
            <a:r>
              <a:rPr lang="en-US" sz="1700" dirty="0">
                <a:solidFill>
                  <a:srgbClr val="222831"/>
                </a:solidFill>
                <a:latin typeface="Fira Sans, Arial" pitchFamily="34" charset="0"/>
                <a:ea typeface="Fira Sans, Arial" pitchFamily="34" charset="-122"/>
                <a:cs typeface="Fira Sans, Arial" pitchFamily="34" charset="-120"/>
              </a:rPr>
              <a:t>Serialized storage queue with automatic cleanup when tab closes</a:t>
            </a:r>
            <a:endParaRPr lang="en-US" sz="1800" dirty="0"/>
          </a:p>
        </p:txBody>
      </p:sp>
      <p:sp>
        <p:nvSpPr>
          <p:cNvPr id="4" name="Text 2"/>
          <p:cNvSpPr/>
          <p:nvPr/>
        </p:nvSpPr>
        <p:spPr>
          <a:xfrm>
            <a:off x="457200" y="3566160"/>
            <a:ext cx="8229600" cy="274320"/>
          </a:xfrm>
          <a:prstGeom prst="rect">
            <a:avLst/>
          </a:prstGeom>
          <a:noFill/>
          <a:ln/>
        </p:spPr>
        <p:txBody>
          <a:bodyPr wrap="square" rtlCol="0" anchor="ctr"/>
          <a:lstStyle/>
          <a:p>
            <a:pPr indent="0" marL="0">
              <a:buNone/>
            </a:pPr>
            <a:r>
              <a:rPr lang="en-US" sz="1200" b="1" dirty="0">
                <a:solidFill>
                  <a:srgbClr val="30475E"/>
                </a:solidFill>
                <a:latin typeface="Fira Sans, Arial" pitchFamily="34" charset="0"/>
                <a:ea typeface="Fira Sans, Arial" pitchFamily="34" charset="-122"/>
                <a:cs typeface="Fira Sans, Arial" pitchFamily="34" charset="-120"/>
              </a:rPr>
              <a:t>Example export schema:</a:t>
            </a:r>
            <a:endParaRPr lang="en-US" sz="1200" dirty="0"/>
          </a:p>
        </p:txBody>
      </p:sp>
      <p:sp>
        <p:nvSpPr>
          <p:cNvPr id="5" name="Text 3"/>
          <p:cNvSpPr/>
          <p:nvPr/>
        </p:nvSpPr>
        <p:spPr>
          <a:xfrm>
            <a:off x="457200" y="3840480"/>
            <a:ext cx="8229600" cy="548640"/>
          </a:xfrm>
          <a:prstGeom prst="rect">
            <a:avLst/>
          </a:prstGeom>
          <a:solidFill>
            <a:srgbClr val="EBEBEB"/>
          </a:solidFill>
          <a:ln/>
        </p:spPr>
        <p:txBody>
          <a:bodyPr wrap="square" rtlCol="0" anchor="ctr"/>
          <a:lstStyle/>
          <a:p>
            <a:pPr indent="0" marL="0">
              <a:buNone/>
            </a:pPr>
            <a:r>
              <a:rPr lang="en-US" sz="1100" dirty="0">
                <a:solidFill>
                  <a:srgbClr val="222831"/>
                </a:solidFill>
                <a:latin typeface="Courier New, monospace" pitchFamily="34" charset="0"/>
                <a:ea typeface="Courier New, monospace" pitchFamily="34" charset="-122"/>
                <a:cs typeface="Courier New, monospace" pitchFamily="34" charset="-120"/>
              </a:rPr>
              <a:t>{ url, timestamp, requestCount, bytesTransferred,</a:t>
            </a:r>
            <a:endParaRPr lang="en-US" sz="1100" dirty="0"/>
          </a:p>
          <a:p>
            <a:pPr indent="0" marL="0">
              <a:buNone/>
            </a:pPr>
            <a:r>
              <a:rPr lang="en-US" sz="1100" dirty="0">
                <a:solidFill>
                  <a:srgbClr val="222831"/>
                </a:solidFill>
                <a:latin typeface="Courier New, monospace" pitchFamily="34" charset="0"/>
                <a:ea typeface="Courier New, monospace" pitchFamily="34" charset="-122"/>
                <a:cs typeface="Courier New, monospace" pitchFamily="34" charset="-120"/>
              </a:rPr>
              <a:t>  requestsWithUnknownSize, cacheState, perRequest[] }</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731520"/>
          </a:xfrm>
          <a:prstGeom prst="rect">
            <a:avLst/>
          </a:prstGeom>
          <a:noFill/>
          <a:ln/>
        </p:spPr>
        <p:txBody>
          <a:bodyPr wrap="square" rtlCol="0" anchor="ctr"/>
          <a:lstStyle/>
          <a:p>
            <a:pPr algn="l" indent="0" marL="0">
              <a:buNone/>
            </a:pPr>
            <a:r>
              <a:rPr lang="en-US" sz="2800" b="1" dirty="0">
                <a:solidFill>
                  <a:srgbClr val="222831"/>
                </a:solidFill>
                <a:latin typeface="Fira Sans, Arial" pitchFamily="34" charset="0"/>
                <a:ea typeface="Fira Sans, Arial" pitchFamily="34" charset="-122"/>
                <a:cs typeface="Fira Sans, Arial" pitchFamily="34" charset="-120"/>
              </a:rPr>
              <a:t>Work Completed: Project Status</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3200400"/>
        </p:xfrm>
        <a:graphic>
          <a:graphicData uri="http://schemas.openxmlformats.org/drawingml/2006/table">
            <a:tbl>
              <a:tblPr/>
              <a:tblGrid>
                <a:gridCol w="1828800"/>
                <a:gridCol w="4572000"/>
                <a:gridCol w="1828800"/>
              </a:tblGrid>
              <a:tr h="457200">
                <a:tc>
                  <a:txBody>
                    <a:bodyPr/>
                    <a:lstStyle/>
                    <a:p>
                      <a:pPr indent="0" marL="0">
                        <a:buNone/>
                      </a:pPr>
                      <a:r>
                        <a:rPr lang="en-US" sz="1400" b="1" dirty="0">
                          <a:solidFill>
                            <a:srgbClr val="FFFFFF"/>
                          </a:solidFill>
                          <a:latin typeface="Fira Sans, Arial" pitchFamily="34" charset="0"/>
                          <a:ea typeface="Fira Sans, Arial" pitchFamily="34" charset="-122"/>
                          <a:cs typeface="Fira Sans, Arial" pitchFamily="34" charset="-120"/>
                        </a:rPr>
                        <a:t>Phase</a:t>
                      </a:r>
                      <a:endParaRPr lang="en-US" sz="14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222831"/>
                    </a:solidFill>
                  </a:tcPr>
                </a:tc>
                <a:tc>
                  <a:txBody>
                    <a:bodyPr/>
                    <a:lstStyle/>
                    <a:p>
                      <a:pPr indent="0" marL="0">
                        <a:buNone/>
                      </a:pPr>
                      <a:r>
                        <a:rPr lang="en-US" sz="1400" b="1" dirty="0">
                          <a:solidFill>
                            <a:srgbClr val="FFFFFF"/>
                          </a:solidFill>
                          <a:latin typeface="Fira Sans, Arial" pitchFamily="34" charset="0"/>
                          <a:ea typeface="Fira Sans, Arial" pitchFamily="34" charset="-122"/>
                          <a:cs typeface="Fira Sans, Arial" pitchFamily="34" charset="-120"/>
                        </a:rPr>
                        <a:t>Deliverables</a:t>
                      </a:r>
                      <a:endParaRPr lang="en-US" sz="14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222831"/>
                    </a:solidFill>
                  </a:tcPr>
                </a:tc>
                <a:tc>
                  <a:txBody>
                    <a:bodyPr/>
                    <a:lstStyle/>
                    <a:p>
                      <a:pPr indent="0" marL="0">
                        <a:buNone/>
                      </a:pPr>
                      <a:r>
                        <a:rPr lang="en-US" sz="1400" b="1" dirty="0">
                          <a:solidFill>
                            <a:srgbClr val="FFFFFF"/>
                          </a:solidFill>
                          <a:latin typeface="Fira Sans, Arial" pitchFamily="34" charset="0"/>
                          <a:ea typeface="Fira Sans, Arial" pitchFamily="34" charset="-122"/>
                          <a:cs typeface="Fira Sans, Arial" pitchFamily="34" charset="-120"/>
                        </a:rPr>
                        <a:t>Status</a:t>
                      </a:r>
                      <a:endParaRPr lang="en-US" sz="14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222831"/>
                    </a:solidFill>
                  </a:tcPr>
                </a:tc>
              </a:tr>
              <a:tr h="457200">
                <a:tc>
                  <a:txBody>
                    <a:bodyPr/>
                    <a:lstStyle/>
                    <a:p>
                      <a:pPr indent="0" marL="0">
                        <a:buNone/>
                      </a:pPr>
                      <a:r>
                        <a:rPr lang="en-US" sz="1400" b="1" dirty="0">
                          <a:solidFill>
                            <a:srgbClr val="222831"/>
                          </a:solidFill>
                          <a:latin typeface="Fira Sans, Arial" pitchFamily="34" charset="0"/>
                          <a:ea typeface="Fira Sans, Arial" pitchFamily="34" charset="-122"/>
                          <a:cs typeface="Fira Sans, Arial" pitchFamily="34" charset="-120"/>
                        </a:rPr>
                        <a:t>1. MVP: Measurement</a:t>
                      </a:r>
                      <a:endParaRPr lang="en-US" sz="14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indent="0" marL="0">
                        <a:buNone/>
                      </a:pPr>
                      <a:r>
                        <a:rPr lang="en-US" sz="1400" dirty="0">
                          <a:solidFill>
                            <a:srgbClr val="222831"/>
                          </a:solidFill>
                          <a:latin typeface="Fira Sans, Arial" pitchFamily="34" charset="0"/>
                          <a:ea typeface="Fira Sans, Arial" pitchFamily="34" charset="-122"/>
                          <a:cs typeface="Fira Sans, Arial" pitchFamily="34" charset="-120"/>
                        </a:rPr>
                        <a:t>webRequest monitoring, classification, popup UI, JSON export</a:t>
                      </a:r>
                      <a:endParaRPr lang="en-US" sz="14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indent="0" marL="0">
                        <a:buNone/>
                      </a:pPr>
                      <a:r>
                        <a:rPr lang="en-US" sz="1400" b="1" dirty="0">
                          <a:solidFill>
                            <a:srgbClr val="2E7D32"/>
                          </a:solidFill>
                          <a:latin typeface="Fira Sans, Arial" pitchFamily="34" charset="0"/>
                          <a:ea typeface="Fira Sans, Arial" pitchFamily="34" charset="-122"/>
                          <a:cs typeface="Fira Sans, Arial" pitchFamily="34" charset="-120"/>
                        </a:rPr>
                        <a:t>✓ Done (v0.1)</a:t>
                      </a:r>
                      <a:endParaRPr lang="en-US" sz="14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r>
              <a:tr h="457200">
                <a:tc>
                  <a:txBody>
                    <a:bodyPr/>
                    <a:lstStyle/>
                    <a:p>
                      <a:pPr indent="0" marL="0">
                        <a:buNone/>
                      </a:pPr>
                      <a:r>
                        <a:rPr lang="en-US" sz="1400" b="1" dirty="0">
                          <a:solidFill>
                            <a:srgbClr val="222831"/>
                          </a:solidFill>
                          <a:latin typeface="Fira Sans, Arial" pitchFamily="34" charset="0"/>
                          <a:ea typeface="Fira Sans, Arial" pitchFamily="34" charset="-122"/>
                          <a:cs typeface="Fira Sans, Arial" pitchFamily="34" charset="-120"/>
                        </a:rPr>
                        <a:t>1. MVP: CO₂e in popup</a:t>
                      </a:r>
                      <a:endParaRPr lang="en-US" sz="14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indent="0" marL="0">
                        <a:buNone/>
                      </a:pPr>
                      <a:r>
                        <a:rPr lang="en-US" sz="1400" dirty="0">
                          <a:solidFill>
                            <a:srgbClr val="222831"/>
                          </a:solidFill>
                          <a:latin typeface="Fira Sans, Arial" pitchFamily="34" charset="0"/>
                          <a:ea typeface="Fira Sans, Arial" pitchFamily="34" charset="-122"/>
                          <a:cs typeface="Fira Sans, Arial" pitchFamily="34" charset="-120"/>
                        </a:rPr>
                        <a:t>Integrate CO2.js, show estimated CO₂e, auto-refresh</a:t>
                      </a:r>
                      <a:endParaRPr lang="en-US" sz="14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indent="0" marL="0">
                        <a:buNone/>
                      </a:pPr>
                      <a:r>
                        <a:rPr lang="en-US" sz="1400" b="1" dirty="0">
                          <a:solidFill>
                            <a:srgbClr val="F2A365"/>
                          </a:solidFill>
                          <a:latin typeface="Fira Sans, Arial" pitchFamily="34" charset="0"/>
                          <a:ea typeface="Fira Sans, Arial" pitchFamily="34" charset="-122"/>
                          <a:cs typeface="Fira Sans, Arial" pitchFamily="34" charset="-120"/>
                        </a:rPr>
                        <a:t>⚙ In progress</a:t>
                      </a:r>
                      <a:endParaRPr lang="en-US" sz="14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r>
              <a:tr h="457200">
                <a:tc>
                  <a:txBody>
                    <a:bodyPr/>
                    <a:lstStyle/>
                    <a:p>
                      <a:pPr indent="0" marL="0">
                        <a:buNone/>
                      </a:pPr>
                      <a:r>
                        <a:rPr lang="en-US" sz="1400" dirty="0">
                          <a:solidFill>
                            <a:srgbClr val="222831"/>
                          </a:solidFill>
                          <a:latin typeface="Fira Sans, Arial" pitchFamily="34" charset="0"/>
                          <a:ea typeface="Fira Sans, Arial" pitchFamily="34" charset="-122"/>
                          <a:cs typeface="Fira Sans, Arial" pitchFamily="34" charset="-120"/>
                        </a:rPr>
                        <a:t>2. Live dashboard</a:t>
                      </a:r>
                      <a:endParaRPr lang="en-US" sz="14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indent="0" marL="0">
                        <a:buNone/>
                      </a:pPr>
                      <a:r>
                        <a:rPr lang="en-US" sz="1400" dirty="0">
                          <a:solidFill>
                            <a:srgbClr val="222831"/>
                          </a:solidFill>
                          <a:latin typeface="Fira Sans, Arial" pitchFamily="34" charset="0"/>
                          <a:ea typeface="Fira Sans, Arial" pitchFamily="34" charset="-122"/>
                          <a:cs typeface="Fira Sans, Arial" pitchFamily="34" charset="-120"/>
                        </a:rPr>
                        <a:t>Session timer, persistent history, charts</a:t>
                      </a:r>
                      <a:endParaRPr lang="en-US" sz="14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indent="0" marL="0">
                        <a:buNone/>
                      </a:pPr>
                      <a:r>
                        <a:rPr lang="en-US" sz="1400" dirty="0">
                          <a:solidFill>
                            <a:srgbClr val="C4C4C4"/>
                          </a:solidFill>
                          <a:latin typeface="Fira Sans, Arial" pitchFamily="34" charset="0"/>
                          <a:ea typeface="Fira Sans, Arial" pitchFamily="34" charset="-122"/>
                          <a:cs typeface="Fira Sans, Arial" pitchFamily="34" charset="-120"/>
                        </a:rPr>
                        <a:t>Planned</a:t>
                      </a:r>
                      <a:endParaRPr lang="en-US" sz="14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r>
              <a:tr h="457200">
                <a:tc>
                  <a:txBody>
                    <a:bodyPr/>
                    <a:lstStyle/>
                    <a:p>
                      <a:pPr indent="0" marL="0">
                        <a:buNone/>
                      </a:pPr>
                      <a:r>
                        <a:rPr lang="en-US" sz="1400" dirty="0">
                          <a:solidFill>
                            <a:srgbClr val="222831"/>
                          </a:solidFill>
                          <a:latin typeface="Fira Sans, Arial" pitchFamily="34" charset="0"/>
                          <a:ea typeface="Fira Sans, Arial" pitchFamily="34" charset="-122"/>
                          <a:cs typeface="Fira Sans, Arial" pitchFamily="34" charset="-120"/>
                        </a:rPr>
                        <a:t>3. Attribution</a:t>
                      </a:r>
                      <a:endParaRPr lang="en-US" sz="14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indent="0" marL="0">
                        <a:buNone/>
                      </a:pPr>
                      <a:r>
                        <a:rPr lang="en-US" sz="1400" dirty="0">
                          <a:solidFill>
                            <a:srgbClr val="222831"/>
                          </a:solidFill>
                          <a:latin typeface="Fira Sans, Arial" pitchFamily="34" charset="0"/>
                          <a:ea typeface="Fira Sans, Arial" pitchFamily="34" charset="-122"/>
                          <a:cs typeface="Fira Sans, Arial" pitchFamily="34" charset="-120"/>
                        </a:rPr>
                        <a:t>DC / network / device / embodied split in UI</a:t>
                      </a:r>
                      <a:endParaRPr lang="en-US" sz="14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indent="0" marL="0">
                        <a:buNone/>
                      </a:pPr>
                      <a:r>
                        <a:rPr lang="en-US" sz="1400" dirty="0">
                          <a:solidFill>
                            <a:srgbClr val="C4C4C4"/>
                          </a:solidFill>
                          <a:latin typeface="Fira Sans, Arial" pitchFamily="34" charset="0"/>
                          <a:ea typeface="Fira Sans, Arial" pitchFamily="34" charset="-122"/>
                          <a:cs typeface="Fira Sans, Arial" pitchFamily="34" charset="-120"/>
                        </a:rPr>
                        <a:t>Planned</a:t>
                      </a:r>
                      <a:endParaRPr lang="en-US" sz="14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r>
              <a:tr h="457200">
                <a:tc>
                  <a:txBody>
                    <a:bodyPr/>
                    <a:lstStyle/>
                    <a:p>
                      <a:pPr indent="0" marL="0">
                        <a:buNone/>
                      </a:pPr>
                      <a:r>
                        <a:rPr lang="en-US" sz="1400" dirty="0">
                          <a:solidFill>
                            <a:srgbClr val="222831"/>
                          </a:solidFill>
                          <a:latin typeface="Fira Sans, Arial" pitchFamily="34" charset="0"/>
                          <a:ea typeface="Fira Sans, Arial" pitchFamily="34" charset="-122"/>
                          <a:cs typeface="Fira Sans, Arial" pitchFamily="34" charset="-120"/>
                        </a:rPr>
                        <a:t>4. Research layer</a:t>
                      </a:r>
                      <a:endParaRPr lang="en-US" sz="14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indent="0" marL="0">
                        <a:buNone/>
                      </a:pPr>
                      <a:r>
                        <a:rPr lang="en-US" sz="1400" dirty="0">
                          <a:solidFill>
                            <a:srgbClr val="222831"/>
                          </a:solidFill>
                          <a:latin typeface="Fira Sans, Arial" pitchFamily="34" charset="0"/>
                          <a:ea typeface="Fira Sans, Arial" pitchFamily="34" charset="-122"/>
                          <a:cs typeface="Fira Sans, Arial" pitchFamily="34" charset="-120"/>
                        </a:rPr>
                        <a:t>Enhanced model, baseline vs enhanced % difference</a:t>
                      </a:r>
                      <a:endParaRPr lang="en-US" sz="14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indent="0" marL="0">
                        <a:buNone/>
                      </a:pPr>
                      <a:r>
                        <a:rPr lang="en-US" sz="1400" dirty="0">
                          <a:solidFill>
                            <a:srgbClr val="C4C4C4"/>
                          </a:solidFill>
                          <a:latin typeface="Fira Sans, Arial" pitchFamily="34" charset="0"/>
                          <a:ea typeface="Fira Sans, Arial" pitchFamily="34" charset="-122"/>
                          <a:cs typeface="Fira Sans, Arial" pitchFamily="34" charset="-120"/>
                        </a:rPr>
                        <a:t>Planned</a:t>
                      </a:r>
                      <a:endParaRPr lang="en-US" sz="14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r>
              <a:tr h="457200">
                <a:tc>
                  <a:txBody>
                    <a:bodyPr/>
                    <a:lstStyle/>
                    <a:p>
                      <a:pPr indent="0" marL="0">
                        <a:buNone/>
                      </a:pPr>
                      <a:r>
                        <a:rPr lang="en-US" sz="1400" dirty="0">
                          <a:solidFill>
                            <a:srgbClr val="222831"/>
                          </a:solidFill>
                          <a:latin typeface="Fira Sans, Arial" pitchFamily="34" charset="0"/>
                          <a:ea typeface="Fira Sans, Arial" pitchFamily="34" charset="-122"/>
                          <a:cs typeface="Fira Sans, Arial" pitchFamily="34" charset="-120"/>
                        </a:rPr>
                        <a:t>5. Experiments &amp; paper</a:t>
                      </a:r>
                      <a:endParaRPr lang="en-US" sz="14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indent="0" marL="0">
                        <a:buNone/>
                      </a:pPr>
                      <a:r>
                        <a:rPr lang="en-US" sz="1400" dirty="0">
                          <a:solidFill>
                            <a:srgbClr val="222831"/>
                          </a:solidFill>
                          <a:latin typeface="Fira Sans, Arial" pitchFamily="34" charset="0"/>
                          <a:ea typeface="Fira Sans, Arial" pitchFamily="34" charset="-122"/>
                          <a:cs typeface="Fira Sans, Arial" pitchFamily="34" charset="-120"/>
                        </a:rPr>
                        <a:t>Experiments A–D, analysis, limitations, report</a:t>
                      </a:r>
                      <a:endParaRPr lang="en-US" sz="14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indent="0" marL="0">
                        <a:buNone/>
                      </a:pPr>
                      <a:r>
                        <a:rPr lang="en-US" sz="1400" dirty="0">
                          <a:solidFill>
                            <a:srgbClr val="C4C4C4"/>
                          </a:solidFill>
                          <a:latin typeface="Fira Sans, Arial" pitchFamily="34" charset="0"/>
                          <a:ea typeface="Fira Sans, Arial" pitchFamily="34" charset="-122"/>
                          <a:cs typeface="Fira Sans, Arial" pitchFamily="34" charset="-120"/>
                        </a:rPr>
                        <a:t>Planned</a:t>
                      </a:r>
                      <a:endParaRPr lang="en-US" sz="14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731520"/>
          </a:xfrm>
          <a:prstGeom prst="rect">
            <a:avLst/>
          </a:prstGeom>
          <a:noFill/>
          <a:ln/>
        </p:spPr>
        <p:txBody>
          <a:bodyPr wrap="square" rtlCol="0" anchor="ctr"/>
          <a:lstStyle/>
          <a:p>
            <a:pPr algn="l" indent="0" marL="0">
              <a:buNone/>
            </a:pPr>
            <a:r>
              <a:rPr lang="en-US" sz="2600" b="1" dirty="0">
                <a:solidFill>
                  <a:srgbClr val="222831"/>
                </a:solidFill>
                <a:latin typeface="Fira Sans, Arial" pitchFamily="34" charset="0"/>
                <a:ea typeface="Fira Sans, Arial" pitchFamily="34" charset="-122"/>
                <a:cs typeface="Fira Sans, Arial" pitchFamily="34" charset="-120"/>
              </a:rPr>
              <a:t>Preliminary Results: Measured Data</a:t>
            </a:r>
            <a:endParaRPr lang="en-US" sz="2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65760" y="1463040"/>
          <a:ext cx="8412480" cy="1828800"/>
        </p:xfrm>
        <a:graphic>
          <a:graphicData uri="http://schemas.openxmlformats.org/drawingml/2006/table">
            <a:tbl>
              <a:tblPr/>
              <a:tblGrid>
                <a:gridCol w="2103120"/>
                <a:gridCol w="1188720"/>
                <a:gridCol w="1188720"/>
                <a:gridCol w="914400"/>
                <a:gridCol w="1188720"/>
                <a:gridCol w="1188720"/>
              </a:tblGrid>
              <a:tr h="457200">
                <a:tc>
                  <a:txBody>
                    <a:bodyPr/>
                    <a:lstStyle/>
                    <a:p>
                      <a:pPr indent="0" marL="0">
                        <a:buNone/>
                      </a:pPr>
                      <a:r>
                        <a:rPr lang="en-US" sz="1300" b="1" dirty="0">
                          <a:solidFill>
                            <a:srgbClr val="FFFFFF"/>
                          </a:solidFill>
                          <a:latin typeface="Fira Sans, Arial" pitchFamily="34" charset="0"/>
                          <a:ea typeface="Fira Sans, Arial" pitchFamily="34" charset="-122"/>
                          <a:cs typeface="Fira Sans, Arial" pitchFamily="34" charset="-120"/>
                        </a:rPr>
                        <a:t>Website</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222831"/>
                    </a:solidFill>
                  </a:tcPr>
                </a:tc>
                <a:tc>
                  <a:txBody>
                    <a:bodyPr/>
                    <a:lstStyle/>
                    <a:p>
                      <a:pPr algn="ctr" indent="0" marL="0">
                        <a:buNone/>
                      </a:pPr>
                      <a:r>
                        <a:rPr lang="en-US" sz="1300" b="1" dirty="0">
                          <a:solidFill>
                            <a:srgbClr val="FFFFFF"/>
                          </a:solidFill>
                          <a:latin typeface="Fira Sans, Arial" pitchFamily="34" charset="0"/>
                          <a:ea typeface="Fira Sans, Arial" pitchFamily="34" charset="-122"/>
                          <a:cs typeface="Fira Sans, Arial" pitchFamily="34" charset="-120"/>
                        </a:rPr>
                        <a:t>Extension</a:t>
                      </a:r>
                      <a:endParaRPr lang="en-US" sz="1300" dirty="0">
                        <a:latin typeface="Fira Sans, Arial" charset="0"/>
                        <a:ea typeface="Fira Sans, Arial" charset="0"/>
                        <a:cs typeface="Fira Sans, Arial" charset="0"/>
                      </a:endParaRPr>
                    </a:p>
                    <a:p>
                      <a:pPr algn="ctr" indent="0" marL="0">
                        <a:buNone/>
                      </a:pPr>
                      <a:r>
                        <a:rPr lang="en-US" sz="1300" b="1" dirty="0">
                          <a:solidFill>
                            <a:srgbClr val="FFFFFF"/>
                          </a:solidFill>
                          <a:latin typeface="Fira Sans, Arial" pitchFamily="34" charset="0"/>
                          <a:ea typeface="Fira Sans, Arial" pitchFamily="34" charset="-122"/>
                          <a:cs typeface="Fira Sans, Arial" pitchFamily="34" charset="-120"/>
                        </a:rPr>
                        <a:t>Reqs</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222831"/>
                    </a:solidFill>
                  </a:tcPr>
                </a:tc>
                <a:tc>
                  <a:txBody>
                    <a:bodyPr/>
                    <a:lstStyle/>
                    <a:p>
                      <a:pPr algn="ctr" indent="0" marL="0">
                        <a:buNone/>
                      </a:pPr>
                      <a:r>
                        <a:rPr lang="en-US" sz="1300" b="1" dirty="0">
                          <a:solidFill>
                            <a:srgbClr val="FFFFFF"/>
                          </a:solidFill>
                          <a:latin typeface="Fira Sans, Arial" pitchFamily="34" charset="0"/>
                          <a:ea typeface="Fira Sans, Arial" pitchFamily="34" charset="-122"/>
                          <a:cs typeface="Fira Sans, Arial" pitchFamily="34" charset="-120"/>
                        </a:rPr>
                        <a:t>Extension</a:t>
                      </a:r>
                      <a:endParaRPr lang="en-US" sz="1300" dirty="0">
                        <a:latin typeface="Fira Sans, Arial" charset="0"/>
                        <a:ea typeface="Fira Sans, Arial" charset="0"/>
                        <a:cs typeface="Fira Sans, Arial" charset="0"/>
                      </a:endParaRPr>
                    </a:p>
                    <a:p>
                      <a:pPr algn="ctr" indent="0" marL="0">
                        <a:buNone/>
                      </a:pPr>
                      <a:r>
                        <a:rPr lang="en-US" sz="1300" b="1" dirty="0">
                          <a:solidFill>
                            <a:srgbClr val="FFFFFF"/>
                          </a:solidFill>
                          <a:latin typeface="Fira Sans, Arial" pitchFamily="34" charset="0"/>
                          <a:ea typeface="Fira Sans, Arial" pitchFamily="34" charset="-122"/>
                          <a:cs typeface="Fira Sans, Arial" pitchFamily="34" charset="-120"/>
                        </a:rPr>
                        <a:t>Bytes</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222831"/>
                    </a:solidFill>
                  </a:tcPr>
                </a:tc>
                <a:tc>
                  <a:txBody>
                    <a:bodyPr/>
                    <a:lstStyle/>
                    <a:p>
                      <a:pPr algn="ctr" indent="0" marL="0">
                        <a:buNone/>
                      </a:pPr>
                      <a:r>
                        <a:rPr lang="en-US" sz="1300" b="1" dirty="0">
                          <a:solidFill>
                            <a:srgbClr val="FFFFFF"/>
                          </a:solidFill>
                          <a:latin typeface="Fira Sans, Arial" pitchFamily="34" charset="0"/>
                          <a:ea typeface="Fira Sans, Arial" pitchFamily="34" charset="-122"/>
                          <a:cs typeface="Fira Sans, Arial" pitchFamily="34" charset="-120"/>
                        </a:rPr>
                        <a:t>Unknown</a:t>
                      </a:r>
                      <a:endParaRPr lang="en-US" sz="1300" dirty="0">
                        <a:latin typeface="Fira Sans, Arial" charset="0"/>
                        <a:ea typeface="Fira Sans, Arial" charset="0"/>
                        <a:cs typeface="Fira Sans, Arial" charset="0"/>
                      </a:endParaRPr>
                    </a:p>
                    <a:p>
                      <a:pPr algn="ctr" indent="0" marL="0">
                        <a:buNone/>
                      </a:pPr>
                      <a:r>
                        <a:rPr lang="en-US" sz="1300" b="1" dirty="0">
                          <a:solidFill>
                            <a:srgbClr val="FFFFFF"/>
                          </a:solidFill>
                          <a:latin typeface="Fira Sans, Arial" pitchFamily="34" charset="0"/>
                          <a:ea typeface="Fira Sans, Arial" pitchFamily="34" charset="-122"/>
                          <a:cs typeface="Fira Sans, Arial" pitchFamily="34" charset="-120"/>
                        </a:rPr>
                        <a:t>Size</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222831"/>
                    </a:solidFill>
                  </a:tcPr>
                </a:tc>
                <a:tc>
                  <a:txBody>
                    <a:bodyPr/>
                    <a:lstStyle/>
                    <a:p>
                      <a:pPr algn="ctr" indent="0" marL="0">
                        <a:buNone/>
                      </a:pPr>
                      <a:r>
                        <a:rPr lang="en-US" sz="1300" b="1" dirty="0">
                          <a:solidFill>
                            <a:srgbClr val="FFFFFF"/>
                          </a:solidFill>
                          <a:latin typeface="Fira Sans, Arial" pitchFamily="34" charset="0"/>
                          <a:ea typeface="Fira Sans, Arial" pitchFamily="34" charset="-122"/>
                          <a:cs typeface="Fira Sans, Arial" pitchFamily="34" charset="-120"/>
                        </a:rPr>
                        <a:t>DevTools</a:t>
                      </a:r>
                      <a:endParaRPr lang="en-US" sz="1300" dirty="0">
                        <a:latin typeface="Fira Sans, Arial" charset="0"/>
                        <a:ea typeface="Fira Sans, Arial" charset="0"/>
                        <a:cs typeface="Fira Sans, Arial" charset="0"/>
                      </a:endParaRPr>
                    </a:p>
                    <a:p>
                      <a:pPr algn="ctr" indent="0" marL="0">
                        <a:buNone/>
                      </a:pPr>
                      <a:r>
                        <a:rPr lang="en-US" sz="1300" b="1" dirty="0">
                          <a:solidFill>
                            <a:srgbClr val="FFFFFF"/>
                          </a:solidFill>
                          <a:latin typeface="Fira Sans, Arial" pitchFamily="34" charset="0"/>
                          <a:ea typeface="Fira Sans, Arial" pitchFamily="34" charset="-122"/>
                          <a:cs typeface="Fira Sans, Arial" pitchFamily="34" charset="-120"/>
                        </a:rPr>
                        <a:t>Reqs</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222831"/>
                    </a:solidFill>
                  </a:tcPr>
                </a:tc>
                <a:tc>
                  <a:txBody>
                    <a:bodyPr/>
                    <a:lstStyle/>
                    <a:p>
                      <a:pPr algn="ctr" indent="0" marL="0">
                        <a:buNone/>
                      </a:pPr>
                      <a:r>
                        <a:rPr lang="en-US" sz="1300" b="1" dirty="0">
                          <a:solidFill>
                            <a:srgbClr val="FFFFFF"/>
                          </a:solidFill>
                          <a:latin typeface="Fira Sans, Arial" pitchFamily="34" charset="0"/>
                          <a:ea typeface="Fira Sans, Arial" pitchFamily="34" charset="-122"/>
                          <a:cs typeface="Fira Sans, Arial" pitchFamily="34" charset="-120"/>
                        </a:rPr>
                        <a:t>DevTools</a:t>
                      </a:r>
                      <a:endParaRPr lang="en-US" sz="1300" dirty="0">
                        <a:latin typeface="Fira Sans, Arial" charset="0"/>
                        <a:ea typeface="Fira Sans, Arial" charset="0"/>
                        <a:cs typeface="Fira Sans, Arial" charset="0"/>
                      </a:endParaRPr>
                    </a:p>
                    <a:p>
                      <a:pPr algn="ctr" indent="0" marL="0">
                        <a:buNone/>
                      </a:pPr>
                      <a:r>
                        <a:rPr lang="en-US" sz="1300" b="1" dirty="0">
                          <a:solidFill>
                            <a:srgbClr val="FFFFFF"/>
                          </a:solidFill>
                          <a:latin typeface="Fira Sans, Arial" pitchFamily="34" charset="0"/>
                          <a:ea typeface="Fira Sans, Arial" pitchFamily="34" charset="-122"/>
                          <a:cs typeface="Fira Sans, Arial" pitchFamily="34" charset="-120"/>
                        </a:rPr>
                        <a:t>Bytes</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222831"/>
                    </a:solidFill>
                  </a:tcPr>
                </a:tc>
              </a:tr>
              <a:tr h="457200">
                <a:tc>
                  <a:txBody>
                    <a:bodyPr/>
                    <a:lstStyle/>
                    <a:p>
                      <a:pPr indent="0" marL="0">
                        <a:buNone/>
                      </a:pPr>
                      <a:r>
                        <a:rPr lang="en-US" sz="1300" b="1" dirty="0">
                          <a:solidFill>
                            <a:srgbClr val="222831"/>
                          </a:solidFill>
                          <a:latin typeface="Fira Sans, Arial" pitchFamily="34" charset="0"/>
                          <a:ea typeface="Fira Sans, Arial" pitchFamily="34" charset="-122"/>
                          <a:cs typeface="Fira Sans, Arial" pitchFamily="34" charset="-120"/>
                        </a:rPr>
                        <a:t>YouTube homepage</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algn="ctr" indent="0" marL="0">
                        <a:buNone/>
                      </a:pPr>
                      <a:r>
                        <a:rPr lang="en-US" sz="1300" dirty="0">
                          <a:solidFill>
                            <a:srgbClr val="222831"/>
                          </a:solidFill>
                          <a:latin typeface="Fira Sans, Arial" pitchFamily="34" charset="0"/>
                          <a:ea typeface="Fira Sans, Arial" pitchFamily="34" charset="-122"/>
                          <a:cs typeface="Fira Sans, Arial" pitchFamily="34" charset="-120"/>
                        </a:rPr>
                        <a:t>75</a:t>
                      </a:r>
                      <a:endParaRPr lang="en-US" sz="1300" dirty="0">
                        <a:latin typeface="Fira Sans, Arial" charset="0"/>
                        <a:ea typeface="Fira Sans, Arial" charset="0"/>
                        <a:cs typeface="Fira Sans, Arial" charset="0"/>
                      </a:endParaRPr>
                    </a:p>
                    <a:p>
                      <a:pPr algn="ctr" indent="0" marL="0">
                        <a:buNone/>
                      </a:pPr>
                      <a:r>
                        <a:rPr lang="en-US" sz="1300" dirty="0">
                          <a:solidFill>
                            <a:srgbClr val="222831"/>
                          </a:solidFill>
                          <a:latin typeface="Fira Sans, Arial" pitchFamily="34" charset="0"/>
                          <a:ea typeface="Fira Sans, Arial" pitchFamily="34" charset="-122"/>
                          <a:cs typeface="Fira Sans, Arial" pitchFamily="34" charset="-120"/>
                        </a:rPr>
                        <a:t>(61 net)</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algn="ctr" indent="0" marL="0">
                        <a:buNone/>
                      </a:pPr>
                      <a:r>
                        <a:rPr lang="en-US" sz="1300" dirty="0">
                          <a:solidFill>
                            <a:srgbClr val="222831"/>
                          </a:solidFill>
                          <a:latin typeface="Fira Sans, Arial" pitchFamily="34" charset="0"/>
                          <a:ea typeface="Fira Sans, Arial" pitchFamily="34" charset="-122"/>
                          <a:cs typeface="Fira Sans, Arial" pitchFamily="34" charset="-120"/>
                        </a:rPr>
                        <a:t>374 KB</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algn="ctr" indent="0" marL="0">
                        <a:buNone/>
                      </a:pPr>
                      <a:r>
                        <a:rPr lang="en-US" sz="1300" dirty="0">
                          <a:solidFill>
                            <a:srgbClr val="F2A365"/>
                          </a:solidFill>
                          <a:latin typeface="Fira Sans, Arial" pitchFamily="34" charset="0"/>
                          <a:ea typeface="Fira Sans, Arial" pitchFamily="34" charset="-122"/>
                          <a:cs typeface="Fira Sans, Arial" pitchFamily="34" charset="-120"/>
                        </a:rPr>
                        <a:t>9</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algn="ctr" indent="0" marL="0">
                        <a:buNone/>
                      </a:pPr>
                      <a:r>
                        <a:rPr lang="en-US" sz="1300" dirty="0">
                          <a:solidFill>
                            <a:srgbClr val="222831"/>
                          </a:solidFill>
                          <a:latin typeface="Fira Sans, Arial" pitchFamily="34" charset="0"/>
                          <a:ea typeface="Fira Sans, Arial" pitchFamily="34" charset="-122"/>
                          <a:cs typeface="Fira Sans, Arial" pitchFamily="34" charset="-120"/>
                        </a:rPr>
                        <a:t>119</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algn="ctr" indent="0" marL="0">
                        <a:buNone/>
                      </a:pPr>
                      <a:r>
                        <a:rPr lang="en-US" sz="1300" dirty="0">
                          <a:solidFill>
                            <a:srgbClr val="222831"/>
                          </a:solidFill>
                          <a:latin typeface="Fira Sans, Arial" pitchFamily="34" charset="0"/>
                          <a:ea typeface="Fira Sans, Arial" pitchFamily="34" charset="-122"/>
                          <a:cs typeface="Fira Sans, Arial" pitchFamily="34" charset="-120"/>
                        </a:rPr>
                        <a:t>1,838 KB</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r>
              <a:tr h="457200">
                <a:tc>
                  <a:txBody>
                    <a:bodyPr/>
                    <a:lstStyle/>
                    <a:p>
                      <a:pPr indent="0" marL="0">
                        <a:buNone/>
                      </a:pPr>
                      <a:r>
                        <a:rPr lang="en-US" sz="1300" b="1" dirty="0">
                          <a:solidFill>
                            <a:srgbClr val="222831"/>
                          </a:solidFill>
                          <a:latin typeface="Fira Sans, Arial" pitchFamily="34" charset="0"/>
                          <a:ea typeface="Fira Sans, Arial" pitchFamily="34" charset="-122"/>
                          <a:cs typeface="Fira Sans, Arial" pitchFamily="34" charset="-120"/>
                        </a:rPr>
                        <a:t>Indian Express homepage</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algn="ctr" indent="0" marL="0">
                        <a:buNone/>
                      </a:pPr>
                      <a:r>
                        <a:rPr lang="en-US" sz="1300" dirty="0">
                          <a:solidFill>
                            <a:srgbClr val="222831"/>
                          </a:solidFill>
                          <a:latin typeface="Fira Sans, Arial" pitchFamily="34" charset="0"/>
                          <a:ea typeface="Fira Sans, Arial" pitchFamily="34" charset="-122"/>
                          <a:cs typeface="Fira Sans, Arial" pitchFamily="34" charset="-120"/>
                        </a:rPr>
                        <a:t>72</a:t>
                      </a:r>
                      <a:endParaRPr lang="en-US" sz="1300" dirty="0">
                        <a:latin typeface="Fira Sans, Arial" charset="0"/>
                        <a:ea typeface="Fira Sans, Arial" charset="0"/>
                        <a:cs typeface="Fira Sans, Arial" charset="0"/>
                      </a:endParaRPr>
                    </a:p>
                    <a:p>
                      <a:pPr algn="ctr" indent="0" marL="0">
                        <a:buNone/>
                      </a:pPr>
                      <a:r>
                        <a:rPr lang="en-US" sz="1300" dirty="0">
                          <a:solidFill>
                            <a:srgbClr val="222831"/>
                          </a:solidFill>
                          <a:latin typeface="Fira Sans, Arial" pitchFamily="34" charset="0"/>
                          <a:ea typeface="Fira Sans, Arial" pitchFamily="34" charset="-122"/>
                          <a:cs typeface="Fira Sans, Arial" pitchFamily="34" charset="-120"/>
                        </a:rPr>
                        <a:t>(70 net)</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algn="ctr" indent="0" marL="0">
                        <a:buNone/>
                      </a:pPr>
                      <a:r>
                        <a:rPr lang="en-US" sz="1300" dirty="0">
                          <a:solidFill>
                            <a:srgbClr val="222831"/>
                          </a:solidFill>
                          <a:latin typeface="Fira Sans, Arial" pitchFamily="34" charset="0"/>
                          <a:ea typeface="Fira Sans, Arial" pitchFamily="34" charset="-122"/>
                          <a:cs typeface="Fira Sans, Arial" pitchFamily="34" charset="-120"/>
                        </a:rPr>
                        <a:t>2.60 MB</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algn="ctr" indent="0" marL="0">
                        <a:buNone/>
                      </a:pPr>
                      <a:r>
                        <a:rPr lang="en-US" sz="1300" dirty="0">
                          <a:solidFill>
                            <a:srgbClr val="F2A365"/>
                          </a:solidFill>
                          <a:latin typeface="Fira Sans, Arial" pitchFamily="34" charset="0"/>
                          <a:ea typeface="Fira Sans, Arial" pitchFamily="34" charset="-122"/>
                          <a:cs typeface="Fira Sans, Arial" pitchFamily="34" charset="-120"/>
                        </a:rPr>
                        <a:t>31</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algn="ctr" indent="0" marL="0">
                        <a:buNone/>
                      </a:pPr>
                      <a:r>
                        <a:rPr lang="en-US" sz="1300" dirty="0">
                          <a:solidFill>
                            <a:srgbClr val="222831"/>
                          </a:solidFill>
                          <a:latin typeface="Fira Sans, Arial" pitchFamily="34" charset="0"/>
                          <a:ea typeface="Fira Sans, Arial" pitchFamily="34" charset="-122"/>
                          <a:cs typeface="Fira Sans, Arial" pitchFamily="34" charset="-120"/>
                        </a:rPr>
                        <a:t>175</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algn="ctr" indent="0" marL="0">
                        <a:buNone/>
                      </a:pPr>
                      <a:r>
                        <a:rPr lang="en-US" sz="1300" dirty="0">
                          <a:solidFill>
                            <a:srgbClr val="222831"/>
                          </a:solidFill>
                          <a:latin typeface="Fira Sans, Arial" pitchFamily="34" charset="0"/>
                          <a:ea typeface="Fira Sans, Arial" pitchFamily="34" charset="-122"/>
                          <a:cs typeface="Fira Sans, Arial" pitchFamily="34" charset="-120"/>
                        </a:rPr>
                        <a:t>7,876 KB</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r>
              <a:tr h="457200">
                <a:tc>
                  <a:txBody>
                    <a:bodyPr/>
                    <a:lstStyle/>
                    <a:p>
                      <a:pPr indent="0" marL="0">
                        <a:buNone/>
                      </a:pPr>
                      <a:r>
                        <a:rPr lang="en-US" sz="1300" b="1" dirty="0">
                          <a:solidFill>
                            <a:srgbClr val="222831"/>
                          </a:solidFill>
                          <a:latin typeface="Fira Sans, Arial" pitchFamily="34" charset="0"/>
                          <a:ea typeface="Fira Sans, Arial" pitchFamily="34" charset="-122"/>
                          <a:cs typeface="Fira Sans, Arial" pitchFamily="34" charset="-120"/>
                        </a:rPr>
                        <a:t>Wikipedia homepage</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algn="ctr" indent="0" marL="0">
                        <a:buNone/>
                      </a:pPr>
                      <a:r>
                        <a:rPr lang="en-US" sz="1300" dirty="0">
                          <a:solidFill>
                            <a:srgbClr val="222831"/>
                          </a:solidFill>
                          <a:latin typeface="Fira Sans, Arial" pitchFamily="34" charset="0"/>
                          <a:ea typeface="Fira Sans, Arial" pitchFamily="34" charset="-122"/>
                          <a:cs typeface="Fira Sans, Arial" pitchFamily="34" charset="-120"/>
                        </a:rPr>
                        <a:t>24</a:t>
                      </a:r>
                      <a:endParaRPr lang="en-US" sz="1300" dirty="0">
                        <a:latin typeface="Fira Sans, Arial" charset="0"/>
                        <a:ea typeface="Fira Sans, Arial" charset="0"/>
                        <a:cs typeface="Fira Sans, Arial" charset="0"/>
                      </a:endParaRPr>
                    </a:p>
                    <a:p>
                      <a:pPr algn="ctr" indent="0" marL="0">
                        <a:buNone/>
                      </a:pPr>
                      <a:r>
                        <a:rPr lang="en-US" sz="1300" dirty="0">
                          <a:solidFill>
                            <a:srgbClr val="222831"/>
                          </a:solidFill>
                          <a:latin typeface="Fira Sans, Arial" pitchFamily="34" charset="0"/>
                          <a:ea typeface="Fira Sans, Arial" pitchFamily="34" charset="-122"/>
                          <a:cs typeface="Fira Sans, Arial" pitchFamily="34" charset="-120"/>
                        </a:rPr>
                        <a:t>(23 net)</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algn="ctr" indent="0" marL="0">
                        <a:buNone/>
                      </a:pPr>
                      <a:r>
                        <a:rPr lang="en-US" sz="1300" dirty="0">
                          <a:solidFill>
                            <a:srgbClr val="222831"/>
                          </a:solidFill>
                          <a:latin typeface="Fira Sans, Arial" pitchFamily="34" charset="0"/>
                          <a:ea typeface="Fira Sans, Arial" pitchFamily="34" charset="-122"/>
                          <a:cs typeface="Fira Sans, Arial" pitchFamily="34" charset="-120"/>
                        </a:rPr>
                        <a:t>236 KB</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algn="ctr" indent="0" marL="0">
                        <a:buNone/>
                      </a:pPr>
                      <a:r>
                        <a:rPr lang="en-US" sz="1300" dirty="0">
                          <a:solidFill>
                            <a:srgbClr val="2E7D32"/>
                          </a:solidFill>
                          <a:latin typeface="Fira Sans, Arial" pitchFamily="34" charset="0"/>
                          <a:ea typeface="Fira Sans, Arial" pitchFamily="34" charset="-122"/>
                          <a:cs typeface="Fira Sans, Arial" pitchFamily="34" charset="-120"/>
                        </a:rPr>
                        <a:t>0</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algn="ctr" indent="0" marL="0">
                        <a:buNone/>
                      </a:pPr>
                      <a:r>
                        <a:rPr lang="en-US" sz="1300" dirty="0">
                          <a:solidFill>
                            <a:srgbClr val="222831"/>
                          </a:solidFill>
                          <a:latin typeface="Fira Sans, Arial" pitchFamily="34" charset="0"/>
                          <a:ea typeface="Fira Sans, Arial" pitchFamily="34" charset="-122"/>
                          <a:cs typeface="Fira Sans, Arial" pitchFamily="34" charset="-120"/>
                        </a:rPr>
                        <a:t>26</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algn="ctr" indent="0" marL="0">
                        <a:buNone/>
                      </a:pPr>
                      <a:r>
                        <a:rPr lang="en-US" sz="1300" dirty="0">
                          <a:solidFill>
                            <a:srgbClr val="222831"/>
                          </a:solidFill>
                          <a:latin typeface="Fira Sans, Arial" pitchFamily="34" charset="0"/>
                          <a:ea typeface="Fira Sans, Arial" pitchFamily="34" charset="-122"/>
                          <a:cs typeface="Fira Sans, Arial" pitchFamily="34" charset="-120"/>
                        </a:rPr>
                        <a:t>270 KB</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r>
            </a:tbl>
          </a:graphicData>
        </a:graphic>
      </p:graphicFrame>
      <p:sp>
        <p:nvSpPr>
          <p:cNvPr id="4" name="Text 1"/>
          <p:cNvSpPr/>
          <p:nvPr/>
        </p:nvSpPr>
        <p:spPr>
          <a:xfrm>
            <a:off x="457200" y="3474720"/>
            <a:ext cx="8229600" cy="1188720"/>
          </a:xfrm>
          <a:prstGeom prst="rect">
            <a:avLst/>
          </a:prstGeom>
          <a:noFill/>
          <a:ln/>
        </p:spPr>
        <p:txBody>
          <a:bodyPr wrap="square" rtlCol="0" anchor="ctr"/>
          <a:lstStyle/>
          <a:p>
            <a:pPr indent="0" marL="0">
              <a:buNone/>
            </a:pPr>
            <a:r>
              <a:rPr lang="en-US" sz="1400" b="1" dirty="0">
                <a:solidFill>
                  <a:srgbClr val="222831"/>
                </a:solidFill>
                <a:latin typeface="Fira Sans, Arial" pitchFamily="34" charset="0"/>
                <a:ea typeface="Fira Sans, Arial" pitchFamily="34" charset="-122"/>
                <a:cs typeface="Fira Sans, Arial" pitchFamily="34" charset="-120"/>
              </a:rPr>
              <a:t>Observations:
</a:t>
            </a:r>
            <a:endParaRPr lang="en-US" sz="1400" dirty="0"/>
          </a:p>
          <a:p>
            <a:pPr indent="0" marL="0">
              <a:buNone/>
            </a:pPr>
            <a:r>
              <a:rPr lang="en-US" sz="1300" dirty="0">
                <a:solidFill>
                  <a:srgbClr val="30475E"/>
                </a:solidFill>
                <a:latin typeface="Fira Sans, Arial" pitchFamily="34" charset="0"/>
                <a:ea typeface="Fira Sans, Arial" pitchFamily="34" charset="-122"/>
                <a:cs typeface="Fira Sans, Arial" pitchFamily="34" charset="-120"/>
              </a:rPr>
              <a:t>• Extension reports fewer requests and lower bytes than DevTools in all three tests
</a:t>
            </a:r>
            <a:pPr indent="0" marL="0">
              <a:buNone/>
            </a:pPr>
            <a:r>
              <a:rPr lang="en-US" sz="1300" dirty="0">
                <a:solidFill>
                  <a:srgbClr val="30475E"/>
                </a:solidFill>
                <a:latin typeface="Fira Sans, Arial" pitchFamily="34" charset="0"/>
                <a:ea typeface="Fira Sans, Arial" pitchFamily="34" charset="-122"/>
                <a:cs typeface="Fira Sans, Arial" pitchFamily="34" charset="-120"/>
              </a:rPr>
              <a:t>• Unknown-size responses (no Content-Length header) contribute to undercounting
</a:t>
            </a:r>
            <a:pPr indent="0" marL="0">
              <a:buNone/>
            </a:pPr>
            <a:r>
              <a:rPr lang="en-US" sz="1300" dirty="0">
                <a:solidFill>
                  <a:srgbClr val="30475E"/>
                </a:solidFill>
                <a:latin typeface="Fira Sans, Arial" pitchFamily="34" charset="0"/>
                <a:ea typeface="Fira Sans, Arial" pitchFamily="34" charset="-122"/>
                <a:cs typeface="Fira Sans, Arial" pitchFamily="34" charset="-120"/>
              </a:rPr>
              <a:t>• DevTools vs Extension comparison is preliminary—request scopes may differ
</a:t>
            </a:r>
            <a:pPr indent="0" marL="0">
              <a:buNone/>
            </a:pPr>
            <a:r>
              <a:rPr lang="en-US" sz="1300" dirty="0">
                <a:solidFill>
                  <a:srgbClr val="30475E"/>
                </a:solidFill>
                <a:latin typeface="Fira Sans, Arial" pitchFamily="34" charset="0"/>
                <a:ea typeface="Fira Sans, Arial" pitchFamily="34" charset="-122"/>
                <a:cs typeface="Fira Sans, Arial" pitchFamily="34" charset="-120"/>
              </a:rPr>
              <a:t>• Wikipedia shows closest alignment; media-heavy pages show larger discrepancies
</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731520"/>
          </a:xfrm>
          <a:prstGeom prst="rect">
            <a:avLst/>
          </a:prstGeom>
          <a:noFill/>
          <a:ln/>
        </p:spPr>
        <p:txBody>
          <a:bodyPr wrap="square" rtlCol="0" anchor="ctr"/>
          <a:lstStyle/>
          <a:p>
            <a:pPr algn="l" indent="0" marL="0">
              <a:buNone/>
            </a:pPr>
            <a:r>
              <a:rPr lang="en-US" sz="2800" b="1" dirty="0">
                <a:solidFill>
                  <a:srgbClr val="222831"/>
                </a:solidFill>
                <a:latin typeface="Fira Sans, Arial" pitchFamily="34" charset="0"/>
                <a:ea typeface="Fira Sans, Arial" pitchFamily="34" charset="-122"/>
                <a:cs typeface="Fira Sans, Arial" pitchFamily="34" charset="-120"/>
              </a:rPr>
              <a:t>Limitations</a:t>
            </a:r>
            <a:endParaRPr lang="en-US" sz="2800" dirty="0"/>
          </a:p>
        </p:txBody>
      </p:sp>
      <p:sp>
        <p:nvSpPr>
          <p:cNvPr id="3" name="Text 1"/>
          <p:cNvSpPr/>
          <p:nvPr/>
        </p:nvSpPr>
        <p:spPr>
          <a:xfrm>
            <a:off x="457200" y="1371600"/>
            <a:ext cx="8229600" cy="3200400"/>
          </a:xfrm>
          <a:prstGeom prst="rect">
            <a:avLst/>
          </a:prstGeom>
          <a:noFill/>
          <a:ln/>
        </p:spPr>
        <p:txBody>
          <a:bodyPr wrap="square" rtlCol="0" anchor="t"/>
          <a:lstStyle/>
          <a:p>
            <a:r>
              <a:rPr lang="en-US" sz="1700" dirty="0">
                <a:solidFill>
                  <a:srgbClr val="222831"/>
                </a:solidFill>
                <a:latin typeface="Fira Sans, Arial" pitchFamily="34" charset="0"/>
                <a:ea typeface="Fira Sans, Arial" pitchFamily="34" charset="-122"/>
                <a:cs typeface="Fira Sans, Arial" pitchFamily="34" charset="-120"/>
              </a:rPr>
              <a:t>Emissync reports estimated CO₂e, not exact physical emissions measured at the infrastructure level</a:t>
            </a:r>
            <a:pPr indent="0" marL="0">
              <a:buNone/>
            </a:pPr>
            <a:r>
              <a:rPr lang="en-US" sz="1700" dirty="0">
                <a:solidFill>
                  <a:srgbClr val="222831"/>
                </a:solidFill>
                <a:latin typeface="Fira Sans, Arial" pitchFamily="34" charset="0"/>
                <a:ea typeface="Fira Sans, Arial" pitchFamily="34" charset="-122"/>
                <a:cs typeface="Fira Sans, Arial" pitchFamily="34" charset="-120"/>
              </a:rPr>
              <a:t>Data transfer (bytes) is a proxy for resource use—results depend on model assumptions (energy per GB, grid intensity)</a:t>
            </a:r>
            <a:pPr indent="0" marL="0">
              <a:buNone/>
            </a:pPr>
            <a:r>
              <a:rPr lang="en-US" sz="1700" dirty="0">
                <a:solidFill>
                  <a:srgbClr val="222831"/>
                </a:solidFill>
                <a:latin typeface="Fira Sans, Arial" pitchFamily="34" charset="0"/>
                <a:ea typeface="Fira Sans, Arial" pitchFamily="34" charset="-122"/>
                <a:cs typeface="Fira Sans, Arial" pitchFamily="34" charset="-120"/>
              </a:rPr>
              <a:t>Content-Length header gives compressed body size only; does not include request/response headers or TLS overhead</a:t>
            </a:r>
            <a:pPr indent="0" marL="0">
              <a:buNone/>
            </a:pPr>
            <a:r>
              <a:rPr lang="en-US" sz="1700" dirty="0">
                <a:solidFill>
                  <a:srgbClr val="222831"/>
                </a:solidFill>
                <a:latin typeface="Fira Sans, Arial" pitchFamily="34" charset="0"/>
                <a:ea typeface="Fira Sans, Arial" pitchFamily="34" charset="-122"/>
                <a:cs typeface="Fira Sans, Arial" pitchFamily="34" charset="-120"/>
              </a:rPr>
              <a:t>Responses without Content-Length (chunked transfer, some media) are flagged as unknown size → undercounting</a:t>
            </a:r>
            <a:pPr indent="0" marL="0">
              <a:buNone/>
            </a:pPr>
            <a:r>
              <a:rPr lang="en-US" sz="1700" dirty="0">
                <a:solidFill>
                  <a:srgbClr val="222831"/>
                </a:solidFill>
                <a:latin typeface="Fira Sans, Arial" pitchFamily="34" charset="0"/>
                <a:ea typeface="Fira Sans, Arial" pitchFamily="34" charset="-122"/>
                <a:cs typeface="Fira Sans, Arial" pitchFamily="34" charset="-120"/>
              </a:rPr>
              <a:t>DevTools comparison is preliminary—request count and byte discrepancies are not yet explained or validated</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731520"/>
          </a:xfrm>
          <a:prstGeom prst="rect">
            <a:avLst/>
          </a:prstGeom>
          <a:noFill/>
          <a:ln/>
        </p:spPr>
        <p:txBody>
          <a:bodyPr wrap="square" rtlCol="0" anchor="ctr"/>
          <a:lstStyle/>
          <a:p>
            <a:pPr algn="l" indent="0" marL="0">
              <a:buNone/>
            </a:pPr>
            <a:r>
              <a:rPr lang="en-US" sz="2800" b="1" dirty="0">
                <a:solidFill>
                  <a:srgbClr val="222831"/>
                </a:solidFill>
                <a:latin typeface="Fira Sans, Arial" pitchFamily="34" charset="0"/>
                <a:ea typeface="Fira Sans, Arial" pitchFamily="34" charset="-122"/>
                <a:cs typeface="Fira Sans, Arial" pitchFamily="34" charset="-120"/>
              </a:rPr>
              <a:t>Future Work &amp; Timeline</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2286000"/>
        </p:xfrm>
        <a:graphic>
          <a:graphicData uri="http://schemas.openxmlformats.org/drawingml/2006/table">
            <a:tbl>
              <a:tblPr/>
              <a:tblGrid>
                <a:gridCol w="2011680"/>
                <a:gridCol w="4572000"/>
                <a:gridCol w="1645920"/>
              </a:tblGrid>
              <a:tr h="381000">
                <a:tc>
                  <a:txBody>
                    <a:bodyPr/>
                    <a:lstStyle/>
                    <a:p>
                      <a:pPr indent="0" marL="0">
                        <a:buNone/>
                      </a:pPr>
                      <a:r>
                        <a:rPr lang="en-US" sz="1300" b="1" dirty="0">
                          <a:solidFill>
                            <a:srgbClr val="FFFFFF"/>
                          </a:solidFill>
                          <a:latin typeface="Fira Sans, Arial" pitchFamily="34" charset="0"/>
                          <a:ea typeface="Fira Sans, Arial" pitchFamily="34" charset="-122"/>
                          <a:cs typeface="Fira Sans, Arial" pitchFamily="34" charset="-120"/>
                        </a:rPr>
                        <a:t>Phase</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222831"/>
                    </a:solidFill>
                  </a:tcPr>
                </a:tc>
                <a:tc>
                  <a:txBody>
                    <a:bodyPr/>
                    <a:lstStyle/>
                    <a:p>
                      <a:pPr indent="0" marL="0">
                        <a:buNone/>
                      </a:pPr>
                      <a:r>
                        <a:rPr lang="en-US" sz="1300" b="1" dirty="0">
                          <a:solidFill>
                            <a:srgbClr val="FFFFFF"/>
                          </a:solidFill>
                          <a:latin typeface="Fira Sans, Arial" pitchFamily="34" charset="0"/>
                          <a:ea typeface="Fira Sans, Arial" pitchFamily="34" charset="-122"/>
                          <a:cs typeface="Fira Sans, Arial" pitchFamily="34" charset="-120"/>
                        </a:rPr>
                        <a:t>Deliverables</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222831"/>
                    </a:solidFill>
                  </a:tcPr>
                </a:tc>
                <a:tc>
                  <a:txBody>
                    <a:bodyPr/>
                    <a:lstStyle/>
                    <a:p>
                      <a:pPr indent="0" marL="0">
                        <a:buNone/>
                      </a:pPr>
                      <a:r>
                        <a:rPr lang="en-US" sz="1300" b="1" dirty="0">
                          <a:solidFill>
                            <a:srgbClr val="FFFFFF"/>
                          </a:solidFill>
                          <a:latin typeface="Fira Sans, Arial" pitchFamily="34" charset="0"/>
                          <a:ea typeface="Fira Sans, Arial" pitchFamily="34" charset="-122"/>
                          <a:cs typeface="Fira Sans, Arial" pitchFamily="34" charset="-120"/>
                        </a:rPr>
                        <a:t>Timeline</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222831"/>
                    </a:solidFill>
                  </a:tcPr>
                </a:tc>
              </a:tr>
              <a:tr h="381000">
                <a:tc>
                  <a:txBody>
                    <a:bodyPr/>
                    <a:lstStyle/>
                    <a:p>
                      <a:pPr indent="0" marL="0">
                        <a:buNone/>
                      </a:pPr>
                      <a:r>
                        <a:rPr lang="en-US" sz="1300" b="1" dirty="0">
                          <a:solidFill>
                            <a:srgbClr val="222831"/>
                          </a:solidFill>
                          <a:latin typeface="Fira Sans, Arial" pitchFamily="34" charset="0"/>
                          <a:ea typeface="Fira Sans, Arial" pitchFamily="34" charset="-122"/>
                          <a:cs typeface="Fira Sans, Arial" pitchFamily="34" charset="-120"/>
                        </a:rPr>
                        <a:t>1. MVP (in progress)</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indent="0" marL="0">
                        <a:buNone/>
                      </a:pPr>
                      <a:r>
                        <a:rPr lang="en-US" sz="1300" dirty="0">
                          <a:solidFill>
                            <a:srgbClr val="222831"/>
                          </a:solidFill>
                          <a:latin typeface="Fira Sans, Arial" pitchFamily="34" charset="0"/>
                          <a:ea typeface="Fira Sans, Arial" pitchFamily="34" charset="-122"/>
                          <a:cs typeface="Fira Sans, Arial" pitchFamily="34" charset="-120"/>
                        </a:rPr>
                        <a:t>Complete CO2.js integration, show CO₂e, auto-refresh</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indent="0" marL="0">
                        <a:buNone/>
                      </a:pPr>
                      <a:r>
                        <a:rPr lang="en-US" sz="1300" dirty="0">
                          <a:solidFill>
                            <a:srgbClr val="222831"/>
                          </a:solidFill>
                          <a:latin typeface="Fira Sans, Arial" pitchFamily="34" charset="0"/>
                          <a:ea typeface="Fira Sans, Arial" pitchFamily="34" charset="-122"/>
                          <a:cs typeface="Fira Sans, Arial" pitchFamily="34" charset="-120"/>
                        </a:rPr>
                        <a:t>Oct 2026</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r>
              <a:tr h="381000">
                <a:tc>
                  <a:txBody>
                    <a:bodyPr/>
                    <a:lstStyle/>
                    <a:p>
                      <a:pPr indent="0" marL="0">
                        <a:buNone/>
                      </a:pPr>
                      <a:r>
                        <a:rPr lang="en-US" sz="1300" dirty="0">
                          <a:solidFill>
                            <a:srgbClr val="222831"/>
                          </a:solidFill>
                          <a:latin typeface="Fira Sans, Arial" pitchFamily="34" charset="0"/>
                          <a:ea typeface="Fira Sans, Arial" pitchFamily="34" charset="-122"/>
                          <a:cs typeface="Fira Sans, Arial" pitchFamily="34" charset="-120"/>
                        </a:rPr>
                        <a:t>2. Live dashboard</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indent="0" marL="0">
                        <a:buNone/>
                      </a:pPr>
                      <a:r>
                        <a:rPr lang="en-US" sz="1300" dirty="0">
                          <a:solidFill>
                            <a:srgbClr val="222831"/>
                          </a:solidFill>
                          <a:latin typeface="Fira Sans, Arial" pitchFamily="34" charset="0"/>
                          <a:ea typeface="Fira Sans, Arial" pitchFamily="34" charset="-122"/>
                          <a:cs typeface="Fira Sans, Arial" pitchFamily="34" charset="-120"/>
                        </a:rPr>
                        <a:t>Session timer, persistent history, charts</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indent="0" marL="0">
                        <a:buNone/>
                      </a:pPr>
                      <a:r>
                        <a:rPr lang="en-US" sz="1300" dirty="0">
                          <a:solidFill>
                            <a:srgbClr val="222831"/>
                          </a:solidFill>
                          <a:latin typeface="Fira Sans, Arial" pitchFamily="34" charset="0"/>
                          <a:ea typeface="Fira Sans, Arial" pitchFamily="34" charset="-122"/>
                          <a:cs typeface="Fira Sans, Arial" pitchFamily="34" charset="-120"/>
                        </a:rPr>
                        <a:t>Nov 2026</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r>
              <a:tr h="381000">
                <a:tc>
                  <a:txBody>
                    <a:bodyPr/>
                    <a:lstStyle/>
                    <a:p>
                      <a:pPr indent="0" marL="0">
                        <a:buNone/>
                      </a:pPr>
                      <a:r>
                        <a:rPr lang="en-US" sz="1300" dirty="0">
                          <a:solidFill>
                            <a:srgbClr val="222831"/>
                          </a:solidFill>
                          <a:latin typeface="Fira Sans, Arial" pitchFamily="34" charset="0"/>
                          <a:ea typeface="Fira Sans, Arial" pitchFamily="34" charset="-122"/>
                          <a:cs typeface="Fira Sans, Arial" pitchFamily="34" charset="-120"/>
                        </a:rPr>
                        <a:t>3. Attribution</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indent="0" marL="0">
                        <a:buNone/>
                      </a:pPr>
                      <a:r>
                        <a:rPr lang="en-US" sz="1300" dirty="0">
                          <a:solidFill>
                            <a:srgbClr val="222831"/>
                          </a:solidFill>
                          <a:latin typeface="Fira Sans, Arial" pitchFamily="34" charset="0"/>
                          <a:ea typeface="Fira Sans, Arial" pitchFamily="34" charset="-122"/>
                          <a:cs typeface="Fira Sans, Arial" pitchFamily="34" charset="-120"/>
                        </a:rPr>
                        <a:t>DC / network / device / embodied split in UI</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indent="0" marL="0">
                        <a:buNone/>
                      </a:pPr>
                      <a:r>
                        <a:rPr lang="en-US" sz="1300" dirty="0">
                          <a:solidFill>
                            <a:srgbClr val="222831"/>
                          </a:solidFill>
                          <a:latin typeface="Fira Sans, Arial" pitchFamily="34" charset="0"/>
                          <a:ea typeface="Fira Sans, Arial" pitchFamily="34" charset="-122"/>
                          <a:cs typeface="Fira Sans, Arial" pitchFamily="34" charset="-120"/>
                        </a:rPr>
                        <a:t>Nov 2026</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r>
              <a:tr h="381000">
                <a:tc>
                  <a:txBody>
                    <a:bodyPr/>
                    <a:lstStyle/>
                    <a:p>
                      <a:pPr indent="0" marL="0">
                        <a:buNone/>
                      </a:pPr>
                      <a:r>
                        <a:rPr lang="en-US" sz="1300" dirty="0">
                          <a:solidFill>
                            <a:srgbClr val="222831"/>
                          </a:solidFill>
                          <a:latin typeface="Fira Sans, Arial" pitchFamily="34" charset="0"/>
                          <a:ea typeface="Fira Sans, Arial" pitchFamily="34" charset="-122"/>
                          <a:cs typeface="Fira Sans, Arial" pitchFamily="34" charset="-120"/>
                        </a:rPr>
                        <a:t>4. Research layer</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indent="0" marL="0">
                        <a:buNone/>
                      </a:pPr>
                      <a:r>
                        <a:rPr lang="en-US" sz="1300" dirty="0">
                          <a:solidFill>
                            <a:srgbClr val="222831"/>
                          </a:solidFill>
                          <a:latin typeface="Fira Sans, Arial" pitchFamily="34" charset="0"/>
                          <a:ea typeface="Fira Sans, Arial" pitchFamily="34" charset="-122"/>
                          <a:cs typeface="Fira Sans, Arial" pitchFamily="34" charset="-120"/>
                        </a:rPr>
                        <a:t>Enhanced model, baseline vs enhanced % difference</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indent="0" marL="0">
                        <a:buNone/>
                      </a:pPr>
                      <a:r>
                        <a:rPr lang="en-US" sz="1300" dirty="0">
                          <a:solidFill>
                            <a:srgbClr val="222831"/>
                          </a:solidFill>
                          <a:latin typeface="Fira Sans, Arial" pitchFamily="34" charset="0"/>
                          <a:ea typeface="Fira Sans, Arial" pitchFamily="34" charset="-122"/>
                          <a:cs typeface="Fira Sans, Arial" pitchFamily="34" charset="-120"/>
                        </a:rPr>
                        <a:t>Dec 2026</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r>
              <a:tr h="381000">
                <a:tc>
                  <a:txBody>
                    <a:bodyPr/>
                    <a:lstStyle/>
                    <a:p>
                      <a:pPr indent="0" marL="0">
                        <a:buNone/>
                      </a:pPr>
                      <a:r>
                        <a:rPr lang="en-US" sz="1300" dirty="0">
                          <a:solidFill>
                            <a:srgbClr val="222831"/>
                          </a:solidFill>
                          <a:latin typeface="Fira Sans, Arial" pitchFamily="34" charset="0"/>
                          <a:ea typeface="Fira Sans, Arial" pitchFamily="34" charset="-122"/>
                          <a:cs typeface="Fira Sans, Arial" pitchFamily="34" charset="-120"/>
                        </a:rPr>
                        <a:t>5. Experiments &amp; paper</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indent="0" marL="0">
                        <a:buNone/>
                      </a:pPr>
                      <a:r>
                        <a:rPr lang="en-US" sz="1300" dirty="0">
                          <a:solidFill>
                            <a:srgbClr val="222831"/>
                          </a:solidFill>
                          <a:latin typeface="Fira Sans, Arial" pitchFamily="34" charset="0"/>
                          <a:ea typeface="Fira Sans, Arial" pitchFamily="34" charset="-122"/>
                          <a:cs typeface="Fira Sans, Arial" pitchFamily="34" charset="-120"/>
                        </a:rPr>
                        <a:t>Experiments A–D, analysis, report</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indent="0" marL="0">
                        <a:buNone/>
                      </a:pPr>
                      <a:r>
                        <a:rPr lang="en-US" sz="1300" dirty="0">
                          <a:solidFill>
                            <a:srgbClr val="222831"/>
                          </a:solidFill>
                          <a:latin typeface="Fira Sans, Arial" pitchFamily="34" charset="0"/>
                          <a:ea typeface="Fira Sans, Arial" pitchFamily="34" charset="-122"/>
                          <a:cs typeface="Fira Sans, Arial" pitchFamily="34" charset="-120"/>
                        </a:rPr>
                        <a:t>Dec 2026–Sem 8</a:t>
                      </a:r>
                      <a:endParaRPr lang="en-US" sz="1300" dirty="0">
                        <a:latin typeface="Fira Sans, Arial" charset="0"/>
                        <a:ea typeface="Fira Sans, Arial" charset="0"/>
                        <a:cs typeface="Fira Sans, Arial" charset="0"/>
                      </a:endParaRPr>
                    </a:p>
                  </a:txBody>
                  <a:tcPr marL="91440" marR="91440" marT="45720" marB="45720" anchor="ctr">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r>
            </a:tbl>
          </a:graphicData>
        </a:graphic>
      </p:graphicFrame>
      <p:sp>
        <p:nvSpPr>
          <p:cNvPr id="4" name="Text 1"/>
          <p:cNvSpPr/>
          <p:nvPr/>
        </p:nvSpPr>
        <p:spPr>
          <a:xfrm>
            <a:off x="457200" y="3931920"/>
            <a:ext cx="8229600" cy="914400"/>
          </a:xfrm>
          <a:prstGeom prst="rect">
            <a:avLst/>
          </a:prstGeom>
          <a:noFill/>
          <a:ln/>
        </p:spPr>
        <p:txBody>
          <a:bodyPr wrap="square" rtlCol="0" anchor="ctr"/>
          <a:lstStyle/>
          <a:p>
            <a:pPr indent="0" marL="0">
              <a:buNone/>
            </a:pPr>
            <a:r>
              <a:rPr lang="en-US" sz="1400" b="1" dirty="0">
                <a:solidFill>
                  <a:srgbClr val="222831"/>
                </a:solidFill>
                <a:latin typeface="Fira Sans, Arial" pitchFamily="34" charset="0"/>
                <a:ea typeface="Fira Sans, Arial" pitchFamily="34" charset="-122"/>
                <a:cs typeface="Fira Sans, Arial" pitchFamily="34" charset="-120"/>
              </a:rPr>
              <a:t>Planned Improvements
</a:t>
            </a:r>
            <a:endParaRPr lang="en-US" sz="1400" dirty="0"/>
          </a:p>
          <a:p>
            <a:pPr indent="0" marL="0">
              <a:buNone/>
            </a:pPr>
            <a:r>
              <a:rPr lang="en-US" sz="1300" dirty="0">
                <a:solidFill>
                  <a:srgbClr val="30475E"/>
                </a:solidFill>
                <a:latin typeface="Fira Sans, Arial" pitchFamily="34" charset="0"/>
                <a:ea typeface="Fira Sans, Arial" pitchFamily="34" charset="-122"/>
                <a:cs typeface="Fira Sans, Arial" pitchFamily="34" charset="-120"/>
              </a:rPr>
              <a:t>• Validate measurement methodology against DevTools; resolve request-count discrepancies
</a:t>
            </a:r>
            <a:pPr indent="0" marL="0">
              <a:buNone/>
            </a:pPr>
            <a:r>
              <a:rPr lang="en-US" sz="1300" dirty="0">
                <a:solidFill>
                  <a:srgbClr val="30475E"/>
                </a:solidFill>
                <a:latin typeface="Fira Sans, Arial" pitchFamily="34" charset="0"/>
                <a:ea typeface="Fira Sans, Arial" pitchFamily="34" charset="-122"/>
                <a:cs typeface="Fira Sans, Arial" pitchFamily="34" charset="-120"/>
              </a:rPr>
              <a:t>• Handle unknown-size responses (estimate or document coverage limits)
</a:t>
            </a:r>
            <a:pPr indent="0" marL="0">
              <a:buNone/>
            </a:pPr>
            <a:r>
              <a:rPr lang="en-US" sz="1300" dirty="0">
                <a:solidFill>
                  <a:srgbClr val="30475E"/>
                </a:solidFill>
                <a:latin typeface="Fira Sans, Arial" pitchFamily="34" charset="0"/>
                <a:ea typeface="Fira Sans, Arial" pitchFamily="34" charset="-122"/>
                <a:cs typeface="Fira Sans, Arial" pitchFamily="34" charset="-120"/>
              </a:rPr>
              <a:t>• Track SPA route changes as separate page views  •  Add session time dimension
</a:t>
            </a:r>
            <a:pPr indent="0" marL="0">
              <a:buNone/>
            </a:pPr>
            <a:r>
              <a:rPr lang="en-US" sz="1300" dirty="0">
                <a:solidFill>
                  <a:srgbClr val="30475E"/>
                </a:solidFill>
                <a:latin typeface="Fira Sans, Arial" pitchFamily="34" charset="0"/>
                <a:ea typeface="Fira Sans, Arial" pitchFamily="34" charset="-122"/>
                <a:cs typeface="Fira Sans, Arial" pitchFamily="34" charset="-120"/>
              </a:rPr>
              <a:t>• Use regional grid intensity (India: ~632 g CO₂/kWh) instead of global average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731520"/>
          </a:xfrm>
          <a:prstGeom prst="rect">
            <a:avLst/>
          </a:prstGeom>
          <a:noFill/>
          <a:ln/>
        </p:spPr>
        <p:txBody>
          <a:bodyPr wrap="square" rtlCol="0" anchor="ctr"/>
          <a:lstStyle/>
          <a:p>
            <a:pPr algn="l" indent="0" marL="0">
              <a:buNone/>
            </a:pPr>
            <a:r>
              <a:rPr lang="en-US" sz="2800" b="1" dirty="0">
                <a:solidFill>
                  <a:srgbClr val="222831"/>
                </a:solidFill>
                <a:latin typeface="Fira Sans, Arial" pitchFamily="34" charset="0"/>
                <a:ea typeface="Fira Sans, Arial" pitchFamily="34" charset="-122"/>
                <a:cs typeface="Fira Sans, Arial" pitchFamily="34" charset="-120"/>
              </a:rPr>
              <a:t>References</a:t>
            </a:r>
            <a:endParaRPr lang="en-US" sz="2800" dirty="0"/>
          </a:p>
        </p:txBody>
      </p:sp>
      <p:sp>
        <p:nvSpPr>
          <p:cNvPr id="3" name="Text 1"/>
          <p:cNvSpPr/>
          <p:nvPr/>
        </p:nvSpPr>
        <p:spPr>
          <a:xfrm>
            <a:off x="457200" y="1280160"/>
            <a:ext cx="8229600" cy="3657600"/>
          </a:xfrm>
          <a:prstGeom prst="rect">
            <a:avLst/>
          </a:prstGeom>
          <a:noFill/>
          <a:ln/>
        </p:spPr>
        <p:txBody>
          <a:bodyPr wrap="square" rtlCol="0" anchor="t"/>
          <a:lstStyle/>
          <a:p>
            <a:pPr indent="0" marL="0">
              <a:buNone/>
            </a:pPr>
            <a:r>
              <a:rPr lang="en-US" sz="1200" dirty="0">
                <a:solidFill>
                  <a:srgbClr val="222831"/>
                </a:solidFill>
                <a:latin typeface="Fira Sans, Arial" pitchFamily="34" charset="0"/>
                <a:ea typeface="Fira Sans, Arial" pitchFamily="34" charset="-122"/>
                <a:cs typeface="Fira Sans, Arial" pitchFamily="34" charset="-120"/>
              </a:rPr>
              <a:t>1. Sustainable Web Design Model (SWDM v4) and CO2.js — Green Web Foundation</a:t>
            </a:r>
            <a:endParaRPr lang="en-US" sz="1200" dirty="0"/>
          </a:p>
          <a:p>
            <a:pPr indent="0" marL="0">
              <a:buNone/>
            </a:pPr>
            <a:r>
              <a:rPr lang="en-US" sz="1200" dirty="0">
                <a:solidFill>
                  <a:srgbClr val="222831"/>
                </a:solidFill>
                <a:latin typeface="Fira Sans, Arial" pitchFamily="34" charset="0"/>
                <a:ea typeface="Fira Sans, Arial" pitchFamily="34" charset="-122"/>
                <a:cs typeface="Fira Sans, Arial" pitchFamily="34" charset="-120"/>
              </a:rPr>
              <a:t>   https://www.thegreenwebfoundation.org/</a:t>
            </a:r>
            <a:endParaRPr lang="en-US" sz="1200" dirty="0"/>
          </a:p>
          <a:p>
            <a:pPr indent="0" marL="0">
              <a:buNone/>
            </a:pPr>
            <a:endParaRPr lang="en-US" sz="1200" dirty="0"/>
          </a:p>
          <a:p>
            <a:pPr indent="0" marL="0">
              <a:buNone/>
            </a:pPr>
            <a:r>
              <a:rPr lang="en-US" sz="1200" dirty="0">
                <a:solidFill>
                  <a:srgbClr val="222831"/>
                </a:solidFill>
                <a:latin typeface="Fira Sans, Arial" pitchFamily="34" charset="0"/>
                <a:ea typeface="Fira Sans, Arial" pitchFamily="34" charset="-122"/>
                <a:cs typeface="Fira Sans, Arial" pitchFamily="34" charset="-120"/>
              </a:rPr>
              <a:t>2. ISO/IEC 21031:2024 — Software Carbon Intensity (SCI) Specification</a:t>
            </a:r>
            <a:endParaRPr lang="en-US" sz="1200" dirty="0"/>
          </a:p>
          <a:p>
            <a:pPr indent="0" marL="0">
              <a:buNone/>
            </a:pPr>
            <a:endParaRPr lang="en-US" sz="1200" dirty="0"/>
          </a:p>
          <a:p>
            <a:pPr indent="0" marL="0">
              <a:buNone/>
            </a:pPr>
            <a:r>
              <a:rPr lang="en-US" sz="1200" dirty="0">
                <a:solidFill>
                  <a:srgbClr val="222831"/>
                </a:solidFill>
                <a:latin typeface="Fira Sans, Arial" pitchFamily="34" charset="0"/>
                <a:ea typeface="Fira Sans, Arial" pitchFamily="34" charset="-122"/>
                <a:cs typeface="Fira Sans, Arial" pitchFamily="34" charset="-120"/>
              </a:rPr>
              <a:t>3. RFC 9845 — Sustainability Insights</a:t>
            </a:r>
            <a:endParaRPr lang="en-US" sz="1200" dirty="0"/>
          </a:p>
          <a:p>
            <a:pPr indent="0" marL="0">
              <a:buNone/>
            </a:pPr>
            <a:endParaRPr lang="en-US" sz="1200" dirty="0"/>
          </a:p>
          <a:p>
            <a:pPr indent="0" marL="0">
              <a:buNone/>
            </a:pPr>
            <a:r>
              <a:rPr lang="en-US" sz="1200" dirty="0">
                <a:solidFill>
                  <a:srgbClr val="222831"/>
                </a:solidFill>
                <a:latin typeface="Fira Sans, Arial" pitchFamily="34" charset="0"/>
                <a:ea typeface="Fira Sans, Arial" pitchFamily="34" charset="-122"/>
                <a:cs typeface="Fira Sans, Arial" pitchFamily="34" charset="-120"/>
              </a:rPr>
              <a:t>4. RFC 6988 — Requirements for Energy Management</a:t>
            </a:r>
            <a:endParaRPr lang="en-US" sz="1200" dirty="0"/>
          </a:p>
          <a:p>
            <a:pPr indent="0" marL="0">
              <a:buNone/>
            </a:pPr>
            <a:endParaRPr lang="en-US" sz="1200" dirty="0"/>
          </a:p>
          <a:p>
            <a:pPr indent="0" marL="0">
              <a:buNone/>
            </a:pPr>
            <a:r>
              <a:rPr lang="en-US" sz="1200" dirty="0">
                <a:solidFill>
                  <a:srgbClr val="222831"/>
                </a:solidFill>
                <a:latin typeface="Fira Sans, Arial" pitchFamily="34" charset="0"/>
                <a:ea typeface="Fira Sans, Arial" pitchFamily="34" charset="-122"/>
                <a:cs typeface="Fira Sans, Arial" pitchFamily="34" charset="-120"/>
              </a:rPr>
              <a:t>5. RFC 8348 — A YANG Data Model for Hardware Management</a:t>
            </a:r>
            <a:endParaRPr lang="en-US" sz="1200" dirty="0"/>
          </a:p>
          <a:p>
            <a:pPr indent="0" marL="0">
              <a:buNone/>
            </a:pPr>
            <a:endParaRPr lang="en-US" sz="1200" dirty="0"/>
          </a:p>
          <a:p>
            <a:pPr indent="0" marL="0">
              <a:buNone/>
            </a:pPr>
            <a:r>
              <a:rPr lang="en-US" sz="1200" dirty="0">
                <a:solidFill>
                  <a:srgbClr val="222831"/>
                </a:solidFill>
                <a:latin typeface="Fira Sans, Arial" pitchFamily="34" charset="0"/>
                <a:ea typeface="Fira Sans, Arial" pitchFamily="34" charset="-122"/>
                <a:cs typeface="Fira Sans, Arial" pitchFamily="34" charset="-120"/>
              </a:rPr>
              <a:t>6. IETF GREEN Working Group Internet-Drafts</a:t>
            </a:r>
            <a:endParaRPr lang="en-US" sz="1200" dirty="0"/>
          </a:p>
          <a:p>
            <a:pPr indent="0" marL="0">
              <a:buNone/>
            </a:pPr>
            <a:endParaRPr lang="en-US" sz="1200" dirty="0"/>
          </a:p>
          <a:p>
            <a:pPr indent="0" marL="0">
              <a:buNone/>
            </a:pPr>
            <a:r>
              <a:rPr lang="en-US" sz="1200" dirty="0">
                <a:solidFill>
                  <a:srgbClr val="222831"/>
                </a:solidFill>
                <a:latin typeface="Fira Sans, Arial" pitchFamily="34" charset="0"/>
                <a:ea typeface="Fira Sans, Arial" pitchFamily="34" charset="-122"/>
                <a:cs typeface="Fira Sans, Arial" pitchFamily="34" charset="-120"/>
              </a:rPr>
              <a:t>7. University of Michigan, Center for Sustainable Systems (2026). "Carbon Footprint</a:t>
            </a:r>
            <a:endParaRPr lang="en-US" sz="1200" dirty="0"/>
          </a:p>
          <a:p>
            <a:pPr indent="0" marL="0">
              <a:buNone/>
            </a:pPr>
            <a:r>
              <a:rPr lang="en-US" sz="1200" dirty="0">
                <a:solidFill>
                  <a:srgbClr val="222831"/>
                </a:solidFill>
                <a:latin typeface="Fira Sans, Arial" pitchFamily="34" charset="0"/>
                <a:ea typeface="Fira Sans, Arial" pitchFamily="34" charset="-122"/>
                <a:cs typeface="Fira Sans, Arial" pitchFamily="34" charset="-120"/>
              </a:rPr>
              <a:t>   Factsheet." Pub. No. CSS09-05.</a:t>
            </a:r>
            <a:endParaRPr lang="en-US" sz="1200" dirty="0"/>
          </a:p>
          <a:p>
            <a:pPr indent="0" marL="0">
              <a:buNone/>
            </a:pPr>
            <a:endParaRPr lang="en-US" sz="1200" dirty="0"/>
          </a:p>
          <a:p>
            <a:pPr indent="0" marL="0">
              <a:buNone/>
            </a:pPr>
            <a:r>
              <a:rPr lang="en-US" sz="1200" dirty="0">
                <a:solidFill>
                  <a:srgbClr val="222831"/>
                </a:solidFill>
                <a:latin typeface="Fira Sans, Arial" pitchFamily="34" charset="0"/>
                <a:ea typeface="Fira Sans, Arial" pitchFamily="34" charset="-122"/>
                <a:cs typeface="Fira Sans, Arial" pitchFamily="34" charset="-120"/>
              </a:rPr>
              <a:t>8. Climate Impact Partners. "The carbon footprint of the internet."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731520"/>
          </a:xfrm>
          <a:prstGeom prst="rect">
            <a:avLst/>
          </a:prstGeom>
          <a:noFill/>
          <a:ln/>
        </p:spPr>
        <p:txBody>
          <a:bodyPr wrap="square" rtlCol="0" anchor="ctr"/>
          <a:lstStyle/>
          <a:p>
            <a:pPr algn="l" indent="0" marL="0">
              <a:buNone/>
            </a:pPr>
            <a:r>
              <a:rPr lang="en-US" sz="2800" b="1" dirty="0">
                <a:solidFill>
                  <a:srgbClr val="222831"/>
                </a:solidFill>
                <a:latin typeface="Fira Sans, Arial" pitchFamily="34" charset="0"/>
                <a:ea typeface="Fira Sans, Arial" pitchFamily="34" charset="-122"/>
                <a:cs typeface="Fira Sans, Arial" pitchFamily="34" charset="-120"/>
              </a:rPr>
              <a:t>Backup: Likely Panel Questions</a:t>
            </a:r>
            <a:endParaRPr lang="en-US" sz="2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365760" y="1371600"/>
          <a:ext cx="8412480" cy="3474720"/>
        </p:xfrm>
        <a:graphic>
          <a:graphicData uri="http://schemas.openxmlformats.org/drawingml/2006/table">
            <a:tbl>
              <a:tblPr/>
              <a:tblGrid>
                <a:gridCol w="2926080"/>
                <a:gridCol w="5486400"/>
              </a:tblGrid>
              <a:tr h="457200">
                <a:tc>
                  <a:txBody>
                    <a:bodyPr/>
                    <a:lstStyle/>
                    <a:p>
                      <a:pPr indent="0" marL="0">
                        <a:buNone/>
                      </a:pPr>
                      <a:r>
                        <a:rPr lang="en-US" sz="1300" b="1" dirty="0">
                          <a:solidFill>
                            <a:srgbClr val="FFFFFF"/>
                          </a:solidFill>
                          <a:latin typeface="Fira Sans, Arial" pitchFamily="34" charset="0"/>
                          <a:ea typeface="Fira Sans, Arial" pitchFamily="34" charset="-122"/>
                          <a:cs typeface="Fira Sans, Arial" pitchFamily="34" charset="-120"/>
                        </a:rPr>
                        <a:t>Question</a:t>
                      </a:r>
                      <a:endParaRPr lang="en-US" sz="1300" dirty="0">
                        <a:latin typeface="Fira Sans, Arial" charset="0"/>
                        <a:ea typeface="Fira Sans, Arial" charset="0"/>
                        <a:cs typeface="Fira Sans, Arial" charset="0"/>
                      </a:endParaRPr>
                    </a:p>
                  </a:txBody>
                  <a:tcPr marL="91440" marR="91440" marT="45720" marB="45720" anchor="t">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222831"/>
                    </a:solidFill>
                  </a:tcPr>
                </a:tc>
                <a:tc>
                  <a:txBody>
                    <a:bodyPr/>
                    <a:lstStyle/>
                    <a:p>
                      <a:pPr indent="0" marL="0">
                        <a:buNone/>
                      </a:pPr>
                      <a:r>
                        <a:rPr lang="en-US" sz="1300" b="1" dirty="0">
                          <a:solidFill>
                            <a:srgbClr val="FFFFFF"/>
                          </a:solidFill>
                          <a:latin typeface="Fira Sans, Arial" pitchFamily="34" charset="0"/>
                          <a:ea typeface="Fira Sans, Arial" pitchFamily="34" charset="-122"/>
                          <a:cs typeface="Fira Sans, Arial" pitchFamily="34" charset="-120"/>
                        </a:rPr>
                        <a:t>Short Answer</a:t>
                      </a:r>
                      <a:endParaRPr lang="en-US" sz="1300" dirty="0">
                        <a:latin typeface="Fira Sans, Arial" charset="0"/>
                        <a:ea typeface="Fira Sans, Arial" charset="0"/>
                        <a:cs typeface="Fira Sans, Arial" charset="0"/>
                      </a:endParaRPr>
                    </a:p>
                  </a:txBody>
                  <a:tcPr marL="91440" marR="91440" marT="45720" marB="45720" anchor="t">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solidFill>
                      <a:srgbClr val="222831"/>
                    </a:solidFill>
                  </a:tcPr>
                </a:tc>
              </a:tr>
              <a:tr h="548640">
                <a:tc>
                  <a:txBody>
                    <a:bodyPr/>
                    <a:lstStyle/>
                    <a:p>
                      <a:pPr indent="0" marL="0">
                        <a:buNone/>
                      </a:pPr>
                      <a:r>
                        <a:rPr lang="en-US" sz="1200" b="1" dirty="0">
                          <a:solidFill>
                            <a:srgbClr val="222831"/>
                          </a:solidFill>
                          <a:latin typeface="Fira Sans, Arial" pitchFamily="34" charset="0"/>
                          <a:ea typeface="Fira Sans, Arial" pitchFamily="34" charset="-122"/>
                          <a:cs typeface="Fira Sans, Arial" pitchFamily="34" charset="-120"/>
                        </a:rPr>
                        <a:t>How is this different from Carbonalyser or Website Carbon?</a:t>
                      </a:r>
                      <a:endParaRPr lang="en-US" sz="1200" dirty="0">
                        <a:latin typeface="Fira Sans, Arial" charset="0"/>
                        <a:ea typeface="Fira Sans, Arial" charset="0"/>
                        <a:cs typeface="Fira Sans, Arial" charset="0"/>
                      </a:endParaRPr>
                    </a:p>
                  </a:txBody>
                  <a:tcPr marL="91440" marR="91440" marT="45720" marB="45720" anchor="t">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indent="0" marL="0">
                        <a:buNone/>
                      </a:pPr>
                      <a:r>
                        <a:rPr lang="en-US" sz="1200" dirty="0">
                          <a:solidFill>
                            <a:srgbClr val="222831"/>
                          </a:solidFill>
                          <a:latin typeface="Fira Sans, Arial" pitchFamily="34" charset="0"/>
                          <a:ea typeface="Fira Sans, Arial" pitchFamily="34" charset="-122"/>
                          <a:cs typeface="Fira Sans, Arial" pitchFamily="34" charset="-120"/>
                        </a:rPr>
                        <a:t>Those estimate by URL or total bytes. Emissync adds live session monitoring, source-wise attribution, temporal analysis, and baseline-vs-enhanced comparison.</a:t>
                      </a:r>
                      <a:endParaRPr lang="en-US" sz="1200" dirty="0">
                        <a:latin typeface="Fira Sans, Arial" charset="0"/>
                        <a:ea typeface="Fira Sans, Arial" charset="0"/>
                        <a:cs typeface="Fira Sans, Arial" charset="0"/>
                      </a:endParaRPr>
                    </a:p>
                  </a:txBody>
                  <a:tcPr marL="91440" marR="91440" marT="45720" marB="45720" anchor="t">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r>
              <a:tr h="457200">
                <a:tc>
                  <a:txBody>
                    <a:bodyPr/>
                    <a:lstStyle/>
                    <a:p>
                      <a:pPr indent="0" marL="0">
                        <a:buNone/>
                      </a:pPr>
                      <a:r>
                        <a:rPr lang="en-US" sz="1200" b="1" dirty="0">
                          <a:solidFill>
                            <a:srgbClr val="222831"/>
                          </a:solidFill>
                          <a:latin typeface="Fira Sans, Arial" pitchFamily="34" charset="0"/>
                          <a:ea typeface="Fira Sans, Arial" pitchFamily="34" charset="-122"/>
                          <a:cs typeface="Fira Sans, Arial" pitchFamily="34" charset="-120"/>
                        </a:rPr>
                        <a:t>How accurate is it?</a:t>
                      </a:r>
                      <a:endParaRPr lang="en-US" sz="1200" dirty="0">
                        <a:latin typeface="Fira Sans, Arial" charset="0"/>
                        <a:ea typeface="Fira Sans, Arial" charset="0"/>
                        <a:cs typeface="Fira Sans, Arial" charset="0"/>
                      </a:endParaRPr>
                    </a:p>
                  </a:txBody>
                  <a:tcPr marL="91440" marR="91440" marT="45720" marB="45720" anchor="t">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indent="0" marL="0">
                        <a:buNone/>
                      </a:pPr>
                      <a:r>
                        <a:rPr lang="en-US" sz="1200" dirty="0">
                          <a:solidFill>
                            <a:srgbClr val="222831"/>
                          </a:solidFill>
                          <a:latin typeface="Fira Sans, Arial" pitchFamily="34" charset="0"/>
                          <a:ea typeface="Fira Sans, Arial" pitchFamily="34" charset="-122"/>
                          <a:cs typeface="Fira Sans, Arial" pitchFamily="34" charset="-120"/>
                        </a:rPr>
                        <a:t>It is an estimate using SWDM, a published model. We flag unknown-size requests and compare against the baseline in Experiment D. Not a direct physical measurement.</a:t>
                      </a:r>
                      <a:endParaRPr lang="en-US" sz="1200" dirty="0">
                        <a:latin typeface="Fira Sans, Arial" charset="0"/>
                        <a:ea typeface="Fira Sans, Arial" charset="0"/>
                        <a:cs typeface="Fira Sans, Arial" charset="0"/>
                      </a:endParaRPr>
                    </a:p>
                  </a:txBody>
                  <a:tcPr marL="91440" marR="91440" marT="45720" marB="45720" anchor="t">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r>
              <a:tr h="457200">
                <a:tc>
                  <a:txBody>
                    <a:bodyPr/>
                    <a:lstStyle/>
                    <a:p>
                      <a:pPr indent="0" marL="0">
                        <a:buNone/>
                      </a:pPr>
                      <a:r>
                        <a:rPr lang="en-US" sz="1200" b="1" dirty="0">
                          <a:solidFill>
                            <a:srgbClr val="222831"/>
                          </a:solidFill>
                          <a:latin typeface="Fira Sans, Arial" pitchFamily="34" charset="0"/>
                          <a:ea typeface="Fira Sans, Arial" pitchFamily="34" charset="-122"/>
                          <a:cs typeface="Fira Sans, Arial" pitchFamily="34" charset="-120"/>
                        </a:rPr>
                        <a:t>Why SWDM as the baseline?</a:t>
                      </a:r>
                      <a:endParaRPr lang="en-US" sz="1200" dirty="0">
                        <a:latin typeface="Fira Sans, Arial" charset="0"/>
                        <a:ea typeface="Fira Sans, Arial" charset="0"/>
                        <a:cs typeface="Fira Sans, Arial" charset="0"/>
                      </a:endParaRPr>
                    </a:p>
                  </a:txBody>
                  <a:tcPr marL="91440" marR="91440" marT="45720" marB="45720" anchor="t">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indent="0" marL="0">
                        <a:buNone/>
                      </a:pPr>
                      <a:r>
                        <a:rPr lang="en-US" sz="1200" dirty="0">
                          <a:solidFill>
                            <a:srgbClr val="222831"/>
                          </a:solidFill>
                          <a:latin typeface="Fira Sans, Arial" pitchFamily="34" charset="0"/>
                          <a:ea typeface="Fira Sans, Arial" pitchFamily="34" charset="-122"/>
                          <a:cs typeface="Fira Sans, Arial" pitchFamily="34" charset="-120"/>
                        </a:rPr>
                        <a:t>Bottom-up, segmented, maintained, and built into CO2.js—results are reproducible.</a:t>
                      </a:r>
                      <a:endParaRPr lang="en-US" sz="1200" dirty="0">
                        <a:latin typeface="Fira Sans, Arial" charset="0"/>
                        <a:ea typeface="Fira Sans, Arial" charset="0"/>
                        <a:cs typeface="Fira Sans, Arial" charset="0"/>
                      </a:endParaRPr>
                    </a:p>
                  </a:txBody>
                  <a:tcPr marL="91440" marR="91440" marT="45720" marB="45720" anchor="t">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r>
              <a:tr h="457200">
                <a:tc>
                  <a:txBody>
                    <a:bodyPr/>
                    <a:lstStyle/>
                    <a:p>
                      <a:pPr indent="0" marL="0">
                        <a:buNone/>
                      </a:pPr>
                      <a:r>
                        <a:rPr lang="en-US" sz="1200" b="1" dirty="0">
                          <a:solidFill>
                            <a:srgbClr val="222831"/>
                          </a:solidFill>
                          <a:latin typeface="Fira Sans, Arial" pitchFamily="34" charset="0"/>
                          <a:ea typeface="Fira Sans, Arial" pitchFamily="34" charset="-122"/>
                          <a:cs typeface="Fira Sans, Arial" pitchFamily="34" charset="-120"/>
                        </a:rPr>
                        <a:t>Why webRequest and not the Performance API?</a:t>
                      </a:r>
                      <a:endParaRPr lang="en-US" sz="1200" dirty="0">
                        <a:latin typeface="Fira Sans, Arial" charset="0"/>
                        <a:ea typeface="Fira Sans, Arial" charset="0"/>
                        <a:cs typeface="Fira Sans, Arial" charset="0"/>
                      </a:endParaRPr>
                    </a:p>
                  </a:txBody>
                  <a:tcPr marL="91440" marR="91440" marT="45720" marB="45720" anchor="t">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indent="0" marL="0">
                        <a:buNone/>
                      </a:pPr>
                      <a:r>
                        <a:rPr lang="en-US" sz="1200" dirty="0">
                          <a:solidFill>
                            <a:srgbClr val="222831"/>
                          </a:solidFill>
                          <a:latin typeface="Fira Sans, Arial" pitchFamily="34" charset="0"/>
                          <a:ea typeface="Fira Sans, Arial" pitchFamily="34" charset="-122"/>
                          <a:cs typeface="Fira Sans, Arial" pitchFamily="34" charset="-120"/>
                        </a:rPr>
                        <a:t>The Performance API reports 0 bytes for cross-origin resources that lack Timing-Allow-Origin headers.</a:t>
                      </a:r>
                      <a:endParaRPr lang="en-US" sz="1200" dirty="0">
                        <a:latin typeface="Fira Sans, Arial" charset="0"/>
                        <a:ea typeface="Fira Sans, Arial" charset="0"/>
                        <a:cs typeface="Fira Sans, Arial" charset="0"/>
                      </a:endParaRPr>
                    </a:p>
                  </a:txBody>
                  <a:tcPr marL="91440" marR="91440" marT="45720" marB="45720" anchor="t">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r>
              <a:tr h="640080">
                <a:tc>
                  <a:txBody>
                    <a:bodyPr/>
                    <a:lstStyle/>
                    <a:p>
                      <a:pPr indent="0" marL="0">
                        <a:buNone/>
                      </a:pPr>
                      <a:r>
                        <a:rPr lang="en-US" sz="1200" b="1" dirty="0">
                          <a:solidFill>
                            <a:srgbClr val="222831"/>
                          </a:solidFill>
                          <a:latin typeface="Fira Sans, Arial" pitchFamily="34" charset="0"/>
                          <a:ea typeface="Fira Sans, Arial" pitchFamily="34" charset="-122"/>
                          <a:cs typeface="Fira Sans, Arial" pitchFamily="34" charset="-120"/>
                        </a:rPr>
                        <a:t>What is your novelty?</a:t>
                      </a:r>
                      <a:endParaRPr lang="en-US" sz="1200" dirty="0">
                        <a:latin typeface="Fira Sans, Arial" charset="0"/>
                        <a:ea typeface="Fira Sans, Arial" charset="0"/>
                        <a:cs typeface="Fira Sans, Arial" charset="0"/>
                      </a:endParaRPr>
                    </a:p>
                  </a:txBody>
                  <a:tcPr marL="91440" marR="91440" marT="45720" marB="45720" anchor="t">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indent="0" marL="0">
                        <a:buNone/>
                      </a:pPr>
                      <a:r>
                        <a:rPr lang="en-US" sz="1200" dirty="0">
                          <a:solidFill>
                            <a:srgbClr val="222831"/>
                          </a:solidFill>
                          <a:latin typeface="Fira Sans, Arial" pitchFamily="34" charset="0"/>
                          <a:ea typeface="Fira Sans, Arial" pitchFamily="34" charset="-122"/>
                          <a:cs typeface="Fira Sans, Arial" pitchFamily="34" charset="-120"/>
                        </a:rPr>
                        <a:t>Real-time session measurement, multi-segment attribution, temporal analysis, and model validation. We are not claiming "nobody has built a carbon extension"—the contribution is granularity and methodology rigor.</a:t>
                      </a:r>
                      <a:endParaRPr lang="en-US" sz="1200" dirty="0">
                        <a:latin typeface="Fira Sans, Arial" charset="0"/>
                        <a:ea typeface="Fira Sans, Arial" charset="0"/>
                        <a:cs typeface="Fira Sans, Arial" charset="0"/>
                      </a:endParaRPr>
                    </a:p>
                  </a:txBody>
                  <a:tcPr marL="91440" marR="91440" marT="45720" marB="45720" anchor="t">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r>
              <a:tr h="457200">
                <a:tc>
                  <a:txBody>
                    <a:bodyPr/>
                    <a:lstStyle/>
                    <a:p>
                      <a:pPr indent="0" marL="0">
                        <a:buNone/>
                      </a:pPr>
                      <a:r>
                        <a:rPr lang="en-US" sz="1200" b="1" dirty="0">
                          <a:solidFill>
                            <a:srgbClr val="222831"/>
                          </a:solidFill>
                          <a:latin typeface="Fira Sans, Arial" pitchFamily="34" charset="0"/>
                          <a:ea typeface="Fira Sans, Arial" pitchFamily="34" charset="-122"/>
                          <a:cs typeface="Fira Sans, Arial" pitchFamily="34" charset="-120"/>
                        </a:rPr>
                        <a:t>Why no AI/ML?</a:t>
                      </a:r>
                      <a:endParaRPr lang="en-US" sz="1200" dirty="0">
                        <a:latin typeface="Fira Sans, Arial" charset="0"/>
                        <a:ea typeface="Fira Sans, Arial" charset="0"/>
                        <a:cs typeface="Fira Sans, Arial" charset="0"/>
                      </a:endParaRPr>
                    </a:p>
                  </a:txBody>
                  <a:tcPr marL="91440" marR="91440" marT="45720" marB="45720" anchor="t">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c>
                  <a:txBody>
                    <a:bodyPr/>
                    <a:lstStyle/>
                    <a:p>
                      <a:pPr indent="0" marL="0">
                        <a:buNone/>
                      </a:pPr>
                      <a:r>
                        <a:rPr lang="en-US" sz="1200" dirty="0">
                          <a:solidFill>
                            <a:srgbClr val="222831"/>
                          </a:solidFill>
                          <a:latin typeface="Fira Sans, Arial" pitchFamily="34" charset="0"/>
                          <a:ea typeface="Fira Sans, Arial" pitchFamily="34" charset="-122"/>
                          <a:cs typeface="Fira Sans, Arial" pitchFamily="34" charset="-120"/>
                        </a:rPr>
                        <a:t>The core problem is measurement and applying an established model. AI/ML is not required for that.</a:t>
                      </a:r>
                      <a:endParaRPr lang="en-US" sz="1200" dirty="0">
                        <a:latin typeface="Fira Sans, Arial" charset="0"/>
                        <a:ea typeface="Fira Sans, Arial" charset="0"/>
                        <a:cs typeface="Fira Sans, Arial" charset="0"/>
                      </a:endParaRPr>
                    </a:p>
                  </a:txBody>
                  <a:tcPr marL="91440" marR="91440" marT="45720" marB="45720" anchor="t">
                    <a:lnL w="12700" cap="flat" cmpd="sng" algn="ctr">
                      <a:solidFill>
                        <a:srgbClr val="EBEBEB"/>
                      </a:solidFill>
                      <a:prstDash val="solid"/>
                      <a:round/>
                      <a:headEnd type="none" w="med" len="med"/>
                      <a:tailEnd type="none" w="med" len="med"/>
                    </a:lnL>
                    <a:lnR w="12700" cap="flat" cmpd="sng" algn="ctr">
                      <a:solidFill>
                        <a:srgbClr val="EBEBEB"/>
                      </a:solidFill>
                      <a:prstDash val="solid"/>
                      <a:round/>
                      <a:headEnd type="none" w="med" len="med"/>
                      <a:tailEnd type="none" w="med" len="med"/>
                    </a:lnR>
                    <a:lnT w="12700" cap="flat" cmpd="sng" algn="ctr">
                      <a:solidFill>
                        <a:srgbClr val="EBEBEB"/>
                      </a:solidFill>
                      <a:prstDash val="solid"/>
                      <a:round/>
                      <a:headEnd type="none" w="med" len="med"/>
                      <a:tailEnd type="none" w="med" len="med"/>
                    </a:lnT>
                    <a:lnB w="12700" cap="flat" cmpd="sng" algn="ctr">
                      <a:solidFill>
                        <a:srgbClr val="EBEBEB"/>
                      </a:solidFill>
                      <a:prstDash val="solid"/>
                      <a:round/>
                      <a:headEnd type="none" w="med" len="med"/>
                      <a:tailEnd type="none" w="med" len="med"/>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731520"/>
          </a:xfrm>
          <a:prstGeom prst="rect">
            <a:avLst/>
          </a:prstGeom>
          <a:noFill/>
          <a:ln/>
        </p:spPr>
        <p:txBody>
          <a:bodyPr wrap="square" rtlCol="0" anchor="ctr"/>
          <a:lstStyle/>
          <a:p>
            <a:pPr algn="l" indent="0" marL="0">
              <a:buNone/>
            </a:pPr>
            <a:r>
              <a:rPr lang="en-US" sz="2600" b="1" dirty="0">
                <a:solidFill>
                  <a:srgbClr val="222831"/>
                </a:solidFill>
                <a:latin typeface="Fira Sans, Arial" pitchFamily="34" charset="0"/>
                <a:ea typeface="Fira Sans, Arial" pitchFamily="34" charset="-122"/>
                <a:cs typeface="Fira Sans, Arial" pitchFamily="34" charset="-120"/>
              </a:rPr>
              <a:t>Backup: Data Transfer as a Carbon Proxy</a:t>
            </a:r>
            <a:endParaRPr lang="en-US" sz="2600" dirty="0"/>
          </a:p>
        </p:txBody>
      </p:sp>
      <p:sp>
        <p:nvSpPr>
          <p:cNvPr id="3" name="Text 1"/>
          <p:cNvSpPr/>
          <p:nvPr/>
        </p:nvSpPr>
        <p:spPr>
          <a:xfrm>
            <a:off x="457200" y="1371600"/>
            <a:ext cx="8229600" cy="3200400"/>
          </a:xfrm>
          <a:prstGeom prst="rect">
            <a:avLst/>
          </a:prstGeom>
          <a:noFill/>
          <a:ln/>
        </p:spPr>
        <p:txBody>
          <a:bodyPr wrap="square" rtlCol="0" anchor="t"/>
          <a:lstStyle/>
          <a:p>
            <a:r>
              <a:rPr lang="en-US" sz="1600" dirty="0">
                <a:solidFill>
                  <a:srgbClr val="222831"/>
                </a:solidFill>
                <a:latin typeface="Fira Sans, Arial" pitchFamily="34" charset="0"/>
                <a:ea typeface="Fira Sans, Arial" pitchFamily="34" charset="-122"/>
                <a:cs typeface="Fira Sans, Arial" pitchFamily="34" charset="-120"/>
              </a:rPr>
              <a:t>System boundary: User device → network (cables, routers) → data centre → back to device</a:t>
            </a:r>
            <a:pPr indent="0" marL="0">
              <a:buNone/>
            </a:pPr>
            <a:r>
              <a:rPr lang="en-US" sz="1600" dirty="0">
                <a:solidFill>
                  <a:srgbClr val="222831"/>
                </a:solidFill>
                <a:latin typeface="Fira Sans, Arial" pitchFamily="34" charset="0"/>
                <a:ea typeface="Fira Sans, Arial" pitchFamily="34" charset="-122"/>
                <a:cs typeface="Fira Sans, Arial" pitchFamily="34" charset="-120"/>
              </a:rPr>
              <a:t>Bytes transferred is a proxy for resource consumption at each stage (compute, storage, transmission)</a:t>
            </a:r>
            <a:pPr indent="0" marL="0">
              <a:buNone/>
            </a:pPr>
            <a:r>
              <a:rPr lang="en-US" sz="1600" dirty="0">
                <a:solidFill>
                  <a:srgbClr val="222831"/>
                </a:solidFill>
                <a:latin typeface="Fira Sans, Arial" pitchFamily="34" charset="0"/>
                <a:ea typeface="Fira Sans, Arial" pitchFamily="34" charset="-122"/>
                <a:cs typeface="Fira Sans, Arial" pitchFamily="34" charset="-120"/>
              </a:rPr>
              <a:t>SWDM converts bytes → kWh using 0.300 kWh/GB, then kWh → CO₂e using grid intensity</a:t>
            </a:r>
            <a:pPr indent="0" marL="0">
              <a:buNone/>
            </a:pPr>
            <a:r>
              <a:rPr lang="en-US" sz="1600" dirty="0">
                <a:solidFill>
                  <a:srgbClr val="222831"/>
                </a:solidFill>
                <a:latin typeface="Fira Sans, Arial" pitchFamily="34" charset="0"/>
                <a:ea typeface="Fira Sans, Arial" pitchFamily="34" charset="-122"/>
                <a:cs typeface="Fira Sans, Arial" pitchFamily="34" charset="-120"/>
              </a:rPr>
              <a:t>The model allocates energy across segments: device 52%, embodied 19%, DC 15%, network 14%</a:t>
            </a:r>
            <a:pPr indent="0" marL="0">
              <a:buNone/>
            </a:pPr>
            <a:r>
              <a:rPr lang="en-US" sz="1600" dirty="0">
                <a:solidFill>
                  <a:srgbClr val="222831"/>
                </a:solidFill>
                <a:latin typeface="Fira Sans, Arial" pitchFamily="34" charset="0"/>
                <a:ea typeface="Fira Sans, Arial" pitchFamily="34" charset="-122"/>
                <a:cs typeface="Fira Sans, Arial" pitchFamily="34" charset="-120"/>
              </a:rPr>
              <a:t>"Unknown size" means no Content-Length header → response not included in bytes total → undercounting</a:t>
            </a:r>
            <a:pPr indent="0" marL="0">
              <a:buNone/>
            </a:pPr>
            <a:r>
              <a:rPr lang="en-US" sz="1600" dirty="0">
                <a:solidFill>
                  <a:srgbClr val="222831"/>
                </a:solidFill>
                <a:latin typeface="Fira Sans, Arial" pitchFamily="34" charset="0"/>
                <a:ea typeface="Fira Sans, Arial" pitchFamily="34" charset="-122"/>
                <a:cs typeface="Fira Sans, Arial" pitchFamily="34" charset="-120"/>
              </a:rPr>
              <a:t>Where the estimate breaks down: ignores server-side inefficiencies, caching, CDN topology, actual electricity source</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Emissync - Carbon Footprint Tracking During Web Browsing</dc:title>
  <dc:subject>B.Tech CSE Final Year Project Presentation</dc:subject>
  <dc:creator>Emissync Team</dc:creator>
  <cp:lastModifiedBy>Emissync Team</cp:lastModifiedBy>
  <cp:revision>1</cp:revision>
  <dcterms:created xsi:type="dcterms:W3CDTF">2026-10-20T19:36:12Z</dcterms:created>
  <dcterms:modified xsi:type="dcterms:W3CDTF">2026-10-20T19:36:12Z</dcterms:modified>
</cp:coreProperties>
</file>